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64" r:id="rId6"/>
    <p:sldId id="270" r:id="rId7"/>
    <p:sldId id="267" r:id="rId8"/>
    <p:sldId id="269" r:id="rId9"/>
    <p:sldId id="273" r:id="rId10"/>
    <p:sldId id="271" r:id="rId11"/>
    <p:sldId id="27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644D59EF-29F8-440A-827C-D95E3B0B236F}" type="datetimeFigureOut">
              <a:rPr lang="en-IN" smtClean="0"/>
              <a:t>24-03-2026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14408235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4D59EF-29F8-440A-827C-D95E3B0B236F}" type="datetimeFigureOut">
              <a:rPr lang="en-IN" smtClean="0"/>
              <a:t>24-03-2026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1256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644D59EF-29F8-440A-827C-D95E3B0B236F}" type="datetimeFigureOut">
              <a:rPr lang="en-IN" smtClean="0"/>
              <a:t>24-03-2026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101570002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644D59EF-29F8-440A-827C-D95E3B0B236F}" type="datetimeFigureOut">
              <a:rPr lang="en-IN" smtClean="0"/>
              <a:t>24-03-2026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3350414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644D59EF-29F8-440A-827C-D95E3B0B236F}" type="datetimeFigureOut">
              <a:rPr lang="en-IN" smtClean="0"/>
              <a:t>24-03-2026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25E8108-6623-40EB-A672-A3ADF730149D}"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801169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4D59EF-29F8-440A-827C-D95E3B0B236F}" type="datetimeFigureOut">
              <a:rPr lang="en-IN" smtClean="0"/>
              <a:t>24-03-2026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3422540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4D59EF-29F8-440A-827C-D95E3B0B236F}" type="datetimeFigureOut">
              <a:rPr lang="en-IN" smtClean="0"/>
              <a:t>24-03-2026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335191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644D59EF-29F8-440A-827C-D95E3B0B236F}" type="datetimeFigureOut">
              <a:rPr lang="en-IN" smtClean="0"/>
              <a:t>24-03-2026</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190673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644D59EF-29F8-440A-827C-D95E3B0B236F}" type="datetimeFigureOut">
              <a:rPr lang="en-IN" smtClean="0"/>
              <a:t>24-03-2026</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4092594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4D59EF-29F8-440A-827C-D95E3B0B236F}"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741820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4D59EF-29F8-440A-827C-D95E3B0B236F}"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5E8108-6623-40EB-A672-A3ADF730149D}" type="slidenum">
              <a:rPr lang="en-IN" smtClean="0"/>
              <a:t>‹#›</a:t>
            </a:fld>
            <a:endParaRPr lang="en-IN"/>
          </a:p>
        </p:txBody>
      </p:sp>
    </p:spTree>
    <p:extLst>
      <p:ext uri="{BB962C8B-B14F-4D97-AF65-F5344CB8AC3E}">
        <p14:creationId xmlns:p14="http://schemas.microsoft.com/office/powerpoint/2010/main" val="634671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644D59EF-29F8-440A-827C-D95E3B0B236F}" type="datetimeFigureOut">
              <a:rPr lang="en-IN" smtClean="0"/>
              <a:t>24-03-2026</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725E8108-6623-40EB-A672-A3ADF730149D}" type="slidenum">
              <a:rPr lang="en-IN" smtClean="0"/>
              <a:t>‹#›</a:t>
            </a:fld>
            <a:endParaRPr lang="en-IN"/>
          </a:p>
        </p:txBody>
      </p:sp>
    </p:spTree>
    <p:extLst>
      <p:ext uri="{BB962C8B-B14F-4D97-AF65-F5344CB8AC3E}">
        <p14:creationId xmlns:p14="http://schemas.microsoft.com/office/powerpoint/2010/main" val="3139074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58F4A-6E42-DF85-941A-AE2E11B5B9E5}"/>
              </a:ext>
            </a:extLst>
          </p:cNvPr>
          <p:cNvSpPr>
            <a:spLocks noGrp="1"/>
          </p:cNvSpPr>
          <p:nvPr>
            <p:ph type="ctrTitle"/>
          </p:nvPr>
        </p:nvSpPr>
        <p:spPr/>
        <p:txBody>
          <a:bodyPr/>
          <a:lstStyle/>
          <a:p>
            <a:r>
              <a:rPr lang="en-IN" dirty="0"/>
              <a:t>Bike Rental Analysis Report</a:t>
            </a:r>
          </a:p>
        </p:txBody>
      </p:sp>
      <p:sp>
        <p:nvSpPr>
          <p:cNvPr id="3" name="Subtitle 2">
            <a:extLst>
              <a:ext uri="{FF2B5EF4-FFF2-40B4-BE49-F238E27FC236}">
                <a16:creationId xmlns:a16="http://schemas.microsoft.com/office/drawing/2014/main" id="{7379A700-6E5C-A8C8-8F3A-2ED8E4DB3FB0}"/>
              </a:ext>
            </a:extLst>
          </p:cNvPr>
          <p:cNvSpPr>
            <a:spLocks noGrp="1"/>
          </p:cNvSpPr>
          <p:nvPr>
            <p:ph type="subTitle" idx="1"/>
          </p:nvPr>
        </p:nvSpPr>
        <p:spPr/>
        <p:txBody>
          <a:bodyPr/>
          <a:lstStyle/>
          <a:p>
            <a:r>
              <a:rPr lang="en-IN" b="1" dirty="0">
                <a:solidFill>
                  <a:schemeClr val="bg2">
                    <a:lumMod val="25000"/>
                  </a:schemeClr>
                </a:solidFill>
              </a:rPr>
              <a:t>Radhika Rathod</a:t>
            </a:r>
          </a:p>
          <a:p>
            <a:r>
              <a:rPr lang="en-IN" b="1" dirty="0">
                <a:solidFill>
                  <a:schemeClr val="bg2">
                    <a:lumMod val="25000"/>
                  </a:schemeClr>
                </a:solidFill>
              </a:rPr>
              <a:t>25-03-2026</a:t>
            </a:r>
          </a:p>
        </p:txBody>
      </p:sp>
    </p:spTree>
    <p:extLst>
      <p:ext uri="{BB962C8B-B14F-4D97-AF65-F5344CB8AC3E}">
        <p14:creationId xmlns:p14="http://schemas.microsoft.com/office/powerpoint/2010/main" val="3699548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E5BD17F-C95C-40ED-8D04-03295D46F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bg2">
              <a:alpha val="8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6" name="Rectangle 15">
            <a:extLst>
              <a:ext uri="{FF2B5EF4-FFF2-40B4-BE49-F238E27FC236}">
                <a16:creationId xmlns:a16="http://schemas.microsoft.com/office/drawing/2014/main" id="{4203DEB5-0B19-4F8E-84E2-00F5861C9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3215640"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AB1D944-6BD9-E047-581B-990E0CF55367}"/>
              </a:ext>
            </a:extLst>
          </p:cNvPr>
          <p:cNvSpPr txBox="1"/>
          <p:nvPr/>
        </p:nvSpPr>
        <p:spPr>
          <a:xfrm>
            <a:off x="5152103" y="1002891"/>
            <a:ext cx="6371304"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Problem Statement / objectives</a:t>
            </a:r>
          </a:p>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Data overview</a:t>
            </a:r>
          </a:p>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Data cleaning &amp; preparation</a:t>
            </a:r>
          </a:p>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Key analysis &amp; approach</a:t>
            </a:r>
          </a:p>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Dashboard &amp; Visualization</a:t>
            </a:r>
          </a:p>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Key insights</a:t>
            </a:r>
          </a:p>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Business impact</a:t>
            </a:r>
          </a:p>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Challenges &amp; learning</a:t>
            </a:r>
          </a:p>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Future improvements</a:t>
            </a:r>
          </a:p>
          <a:p>
            <a:pPr marL="285750" indent="-285750">
              <a:buFont typeface="Arial" panose="020B0604020202020204" pitchFamily="34" charset="0"/>
              <a:buChar char="•"/>
            </a:pPr>
            <a:r>
              <a:rPr lang="en-US"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Conclusion </a:t>
            </a:r>
            <a:endParaRPr lang="en-IN" sz="2400" dirty="0">
              <a:ln w="0"/>
              <a:solidFill>
                <a:schemeClr val="bg2">
                  <a:lumMod val="75000"/>
                </a:schemeClr>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77815619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4DAA0C0-733F-089C-1CAC-915993E85BD5}"/>
              </a:ext>
            </a:extLst>
          </p:cNvPr>
          <p:cNvSpPr/>
          <p:nvPr/>
        </p:nvSpPr>
        <p:spPr>
          <a:xfrm>
            <a:off x="231058" y="0"/>
            <a:ext cx="11729884" cy="58993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cap="all" dirty="0">
                <a:solidFill>
                  <a:schemeClr val="tx1"/>
                </a:solidFill>
                <a:latin typeface="Aharoni" panose="02010803020104030203" pitchFamily="2" charset="-79"/>
                <a:cs typeface="Aharoni" panose="02010803020104030203" pitchFamily="2" charset="-79"/>
              </a:rPr>
              <a:t>Overview</a:t>
            </a:r>
          </a:p>
        </p:txBody>
      </p:sp>
      <p:sp>
        <p:nvSpPr>
          <p:cNvPr id="4" name="Rectangle: Rounded Corners 3">
            <a:extLst>
              <a:ext uri="{FF2B5EF4-FFF2-40B4-BE49-F238E27FC236}">
                <a16:creationId xmlns:a16="http://schemas.microsoft.com/office/drawing/2014/main" id="{50E58598-EADB-9BCE-AF5E-F9CB841172E4}"/>
              </a:ext>
            </a:extLst>
          </p:cNvPr>
          <p:cNvSpPr/>
          <p:nvPr/>
        </p:nvSpPr>
        <p:spPr>
          <a:xfrm>
            <a:off x="1081548" y="857864"/>
            <a:ext cx="4060723" cy="24457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2">
                    <a:lumMod val="25000"/>
                  </a:schemeClr>
                </a:solidFill>
              </a:rPr>
              <a:t>Objective</a:t>
            </a:r>
          </a:p>
          <a:p>
            <a:pPr algn="ctr"/>
            <a:r>
              <a:rPr lang="en-IN" dirty="0"/>
              <a:t>“To analyse factors affecting bike rental demand and identify patterns to improve business decisions.”</a:t>
            </a:r>
          </a:p>
        </p:txBody>
      </p:sp>
      <p:sp>
        <p:nvSpPr>
          <p:cNvPr id="5" name="Rectangle: Rounded Corners 4">
            <a:extLst>
              <a:ext uri="{FF2B5EF4-FFF2-40B4-BE49-F238E27FC236}">
                <a16:creationId xmlns:a16="http://schemas.microsoft.com/office/drawing/2014/main" id="{4A114B53-053E-8395-3249-230B8F3C17C4}"/>
              </a:ext>
            </a:extLst>
          </p:cNvPr>
          <p:cNvSpPr/>
          <p:nvPr/>
        </p:nvSpPr>
        <p:spPr>
          <a:xfrm>
            <a:off x="1081547" y="3822289"/>
            <a:ext cx="4060723" cy="2561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2">
                    <a:lumMod val="25000"/>
                  </a:schemeClr>
                </a:solidFill>
              </a:rPr>
              <a:t>Data cleaning (Excel) :</a:t>
            </a:r>
          </a:p>
          <a:p>
            <a:pPr marL="285750" indent="-285750">
              <a:buFont typeface="Arial" panose="020B0604020202020204" pitchFamily="34" charset="0"/>
              <a:buChar char="•"/>
            </a:pPr>
            <a:r>
              <a:rPr lang="en-IN" dirty="0"/>
              <a:t>Removed blanks/missing values</a:t>
            </a:r>
          </a:p>
          <a:p>
            <a:pPr marL="285750" indent="-285750">
              <a:buFont typeface="Arial" panose="020B0604020202020204" pitchFamily="34" charset="0"/>
              <a:buChar char="•"/>
            </a:pPr>
            <a:r>
              <a:rPr lang="en-IN" dirty="0"/>
              <a:t>Checked duplicates</a:t>
            </a:r>
          </a:p>
          <a:p>
            <a:pPr marL="285750" indent="-285750">
              <a:buFont typeface="Arial" panose="020B0604020202020204" pitchFamily="34" charset="0"/>
              <a:buChar char="•"/>
            </a:pPr>
            <a:r>
              <a:rPr lang="en-IN" dirty="0"/>
              <a:t>Formatted date &amp; time</a:t>
            </a:r>
          </a:p>
          <a:p>
            <a:pPr marL="285750" indent="-285750">
              <a:buFont typeface="Arial" panose="020B0604020202020204" pitchFamily="34" charset="0"/>
              <a:buChar char="•"/>
            </a:pPr>
            <a:r>
              <a:rPr lang="en-IN" dirty="0"/>
              <a:t>Created new columns like day , rental by hours, weather situation.</a:t>
            </a:r>
          </a:p>
        </p:txBody>
      </p:sp>
      <p:sp>
        <p:nvSpPr>
          <p:cNvPr id="6" name="Rectangle: Rounded Corners 5">
            <a:extLst>
              <a:ext uri="{FF2B5EF4-FFF2-40B4-BE49-F238E27FC236}">
                <a16:creationId xmlns:a16="http://schemas.microsoft.com/office/drawing/2014/main" id="{4F8235AF-5188-7249-6C30-3ED8BF1B2B6F}"/>
              </a:ext>
            </a:extLst>
          </p:cNvPr>
          <p:cNvSpPr/>
          <p:nvPr/>
        </p:nvSpPr>
        <p:spPr>
          <a:xfrm>
            <a:off x="6710517" y="857864"/>
            <a:ext cx="4060723" cy="2561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2">
                    <a:lumMod val="25000"/>
                  </a:schemeClr>
                </a:solidFill>
              </a:rPr>
              <a:t>Dataset overview </a:t>
            </a:r>
          </a:p>
          <a:p>
            <a:pPr algn="ctr"/>
            <a:r>
              <a:rPr lang="en-IN" dirty="0"/>
              <a:t>Total records :  1000</a:t>
            </a:r>
          </a:p>
          <a:p>
            <a:pPr algn="ctr"/>
            <a:r>
              <a:rPr lang="en-IN" dirty="0"/>
              <a:t>Columns : temp, humidity, windspeed, customer counts etc</a:t>
            </a:r>
          </a:p>
          <a:p>
            <a:pPr algn="ctr"/>
            <a:r>
              <a:rPr lang="en-IN" dirty="0"/>
              <a:t>Time period covered : Jan – Feb 2011</a:t>
            </a:r>
          </a:p>
        </p:txBody>
      </p:sp>
      <p:sp>
        <p:nvSpPr>
          <p:cNvPr id="7" name="Rectangle: Rounded Corners 6">
            <a:extLst>
              <a:ext uri="{FF2B5EF4-FFF2-40B4-BE49-F238E27FC236}">
                <a16:creationId xmlns:a16="http://schemas.microsoft.com/office/drawing/2014/main" id="{A647A410-4A38-0041-D535-FC40B56078B3}"/>
              </a:ext>
            </a:extLst>
          </p:cNvPr>
          <p:cNvSpPr/>
          <p:nvPr/>
        </p:nvSpPr>
        <p:spPr>
          <a:xfrm>
            <a:off x="6710516" y="3822289"/>
            <a:ext cx="4060723" cy="2561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2">
                    <a:lumMod val="25000"/>
                  </a:schemeClr>
                </a:solidFill>
              </a:rPr>
              <a:t>Excel Technique Used  :</a:t>
            </a:r>
          </a:p>
          <a:p>
            <a:pPr marL="285750" indent="-285750">
              <a:buFont typeface="Arial" panose="020B0604020202020204" pitchFamily="34" charset="0"/>
              <a:buChar char="•"/>
            </a:pPr>
            <a:r>
              <a:rPr lang="en-IN" dirty="0"/>
              <a:t>Pivot Tables</a:t>
            </a:r>
          </a:p>
          <a:p>
            <a:pPr marL="285750" indent="-285750">
              <a:buFont typeface="Arial" panose="020B0604020202020204" pitchFamily="34" charset="0"/>
              <a:buChar char="•"/>
            </a:pPr>
            <a:r>
              <a:rPr lang="en-IN" dirty="0"/>
              <a:t>Charts(Line, bar, heatmap)</a:t>
            </a:r>
          </a:p>
          <a:p>
            <a:pPr marL="285750" indent="-285750">
              <a:buFont typeface="Arial" panose="020B0604020202020204" pitchFamily="34" charset="0"/>
              <a:buChar char="•"/>
            </a:pPr>
            <a:r>
              <a:rPr lang="en-IN" dirty="0"/>
              <a:t>Conditional formatting</a:t>
            </a:r>
          </a:p>
          <a:p>
            <a:pPr marL="285750" indent="-285750">
              <a:buFont typeface="Arial" panose="020B0604020202020204" pitchFamily="34" charset="0"/>
              <a:buChar char="•"/>
            </a:pPr>
            <a:r>
              <a:rPr lang="en-IN" dirty="0"/>
              <a:t>Correlation analysis</a:t>
            </a:r>
          </a:p>
          <a:p>
            <a:pPr marL="285750" indent="-285750">
              <a:buFont typeface="Arial" panose="020B0604020202020204" pitchFamily="34" charset="0"/>
              <a:buChar char="•"/>
            </a:pPr>
            <a:r>
              <a:rPr lang="en-IN" dirty="0"/>
              <a:t>Formulas</a:t>
            </a:r>
          </a:p>
        </p:txBody>
      </p:sp>
    </p:spTree>
    <p:extLst>
      <p:ext uri="{BB962C8B-B14F-4D97-AF65-F5344CB8AC3E}">
        <p14:creationId xmlns:p14="http://schemas.microsoft.com/office/powerpoint/2010/main" val="601415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DB11B-D255-9858-D8F7-0D4245AD432E}"/>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1688991-F883-C352-E645-EDFCD9759409}"/>
              </a:ext>
            </a:extLst>
          </p:cNvPr>
          <p:cNvSpPr/>
          <p:nvPr/>
        </p:nvSpPr>
        <p:spPr>
          <a:xfrm>
            <a:off x="216310" y="-108154"/>
            <a:ext cx="11729884" cy="58993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000" b="1" dirty="0">
                <a:solidFill>
                  <a:schemeClr val="tx1">
                    <a:lumMod val="85000"/>
                    <a:lumOff val="15000"/>
                  </a:schemeClr>
                </a:solidFill>
              </a:rPr>
              <a:t>Key analysis</a:t>
            </a:r>
          </a:p>
        </p:txBody>
      </p:sp>
      <p:sp>
        <p:nvSpPr>
          <p:cNvPr id="2" name="Rectangle: Rounded Corners 1">
            <a:extLst>
              <a:ext uri="{FF2B5EF4-FFF2-40B4-BE49-F238E27FC236}">
                <a16:creationId xmlns:a16="http://schemas.microsoft.com/office/drawing/2014/main" id="{408A3FDF-C1F9-51D4-26DE-E27061917665}"/>
              </a:ext>
            </a:extLst>
          </p:cNvPr>
          <p:cNvSpPr/>
          <p:nvPr/>
        </p:nvSpPr>
        <p:spPr>
          <a:xfrm>
            <a:off x="1081548" y="857864"/>
            <a:ext cx="4060723" cy="5899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2">
                    <a:lumMod val="25000"/>
                  </a:schemeClr>
                </a:solidFill>
              </a:rPr>
              <a:t>Correlation between dataset</a:t>
            </a:r>
          </a:p>
        </p:txBody>
      </p:sp>
      <p:graphicFrame>
        <p:nvGraphicFramePr>
          <p:cNvPr id="5" name="Table 4">
            <a:extLst>
              <a:ext uri="{FF2B5EF4-FFF2-40B4-BE49-F238E27FC236}">
                <a16:creationId xmlns:a16="http://schemas.microsoft.com/office/drawing/2014/main" id="{E91329B3-45B8-9D23-3461-CA4DB66117A9}"/>
              </a:ext>
            </a:extLst>
          </p:cNvPr>
          <p:cNvGraphicFramePr>
            <a:graphicFrameLocks noGrp="1"/>
          </p:cNvGraphicFramePr>
          <p:nvPr>
            <p:extLst>
              <p:ext uri="{D42A27DB-BD31-4B8C-83A1-F6EECF244321}">
                <p14:modId xmlns:p14="http://schemas.microsoft.com/office/powerpoint/2010/main" val="255192503"/>
              </p:ext>
            </p:extLst>
          </p:nvPr>
        </p:nvGraphicFramePr>
        <p:xfrm>
          <a:off x="507589" y="1823882"/>
          <a:ext cx="4968980" cy="1783941"/>
        </p:xfrm>
        <a:graphic>
          <a:graphicData uri="http://schemas.openxmlformats.org/drawingml/2006/table">
            <a:tbl>
              <a:tblPr firstRow="1">
                <a:tableStyleId>{5C22544A-7EE6-4342-B048-85BDC9FD1C3A}</a:tableStyleId>
              </a:tblPr>
              <a:tblGrid>
                <a:gridCol w="993796">
                  <a:extLst>
                    <a:ext uri="{9D8B030D-6E8A-4147-A177-3AD203B41FA5}">
                      <a16:colId xmlns:a16="http://schemas.microsoft.com/office/drawing/2014/main" val="1198773650"/>
                    </a:ext>
                  </a:extLst>
                </a:gridCol>
                <a:gridCol w="993796">
                  <a:extLst>
                    <a:ext uri="{9D8B030D-6E8A-4147-A177-3AD203B41FA5}">
                      <a16:colId xmlns:a16="http://schemas.microsoft.com/office/drawing/2014/main" val="3142563384"/>
                    </a:ext>
                  </a:extLst>
                </a:gridCol>
                <a:gridCol w="993796">
                  <a:extLst>
                    <a:ext uri="{9D8B030D-6E8A-4147-A177-3AD203B41FA5}">
                      <a16:colId xmlns:a16="http://schemas.microsoft.com/office/drawing/2014/main" val="862271224"/>
                    </a:ext>
                  </a:extLst>
                </a:gridCol>
                <a:gridCol w="993796">
                  <a:extLst>
                    <a:ext uri="{9D8B030D-6E8A-4147-A177-3AD203B41FA5}">
                      <a16:colId xmlns:a16="http://schemas.microsoft.com/office/drawing/2014/main" val="2728158930"/>
                    </a:ext>
                  </a:extLst>
                </a:gridCol>
                <a:gridCol w="993796">
                  <a:extLst>
                    <a:ext uri="{9D8B030D-6E8A-4147-A177-3AD203B41FA5}">
                      <a16:colId xmlns:a16="http://schemas.microsoft.com/office/drawing/2014/main" val="2918145579"/>
                    </a:ext>
                  </a:extLst>
                </a:gridCol>
              </a:tblGrid>
              <a:tr h="295273">
                <a:tc>
                  <a:txBody>
                    <a:bodyPr/>
                    <a:lstStyle/>
                    <a:p>
                      <a:pPr algn="ctr" fontAlgn="b">
                        <a:buNone/>
                      </a:pPr>
                      <a:r>
                        <a:rPr lang="en-IN" sz="1100" u="none" strike="noStrike" dirty="0">
                          <a:effectLst/>
                          <a:latin typeface="+mj-lt"/>
                        </a:rPr>
                        <a:t> </a:t>
                      </a:r>
                      <a:endParaRPr lang="en-IN" sz="1100" b="0" i="1" u="none" strike="noStrike" dirty="0">
                        <a:solidFill>
                          <a:srgbClr val="000000"/>
                        </a:solidFill>
                        <a:effectLst/>
                        <a:latin typeface="+mj-lt"/>
                      </a:endParaRPr>
                    </a:p>
                  </a:txBody>
                  <a:tcPr marL="7620" marR="7620" marT="7620" marB="0" anchor="ctr"/>
                </a:tc>
                <a:tc>
                  <a:txBody>
                    <a:bodyPr/>
                    <a:lstStyle/>
                    <a:p>
                      <a:pPr algn="ctr" fontAlgn="b">
                        <a:buNone/>
                      </a:pPr>
                      <a:r>
                        <a:rPr lang="en-IN" sz="1100" u="none" strike="noStrike" dirty="0">
                          <a:solidFill>
                            <a:schemeClr val="bg2">
                              <a:lumMod val="25000"/>
                            </a:schemeClr>
                          </a:solidFill>
                          <a:effectLst/>
                          <a:latin typeface="+mj-lt"/>
                        </a:rPr>
                        <a:t>temp</a:t>
                      </a:r>
                      <a:endParaRPr lang="en-IN" sz="1100" b="0" i="1" u="none" strike="noStrike" dirty="0">
                        <a:solidFill>
                          <a:schemeClr val="bg2">
                            <a:lumMod val="25000"/>
                          </a:schemeClr>
                        </a:solidFill>
                        <a:effectLst/>
                        <a:latin typeface="+mj-lt"/>
                      </a:endParaRPr>
                    </a:p>
                  </a:txBody>
                  <a:tcPr marL="7620" marR="7620" marT="7620" marB="0" anchor="ctr"/>
                </a:tc>
                <a:tc>
                  <a:txBody>
                    <a:bodyPr/>
                    <a:lstStyle/>
                    <a:p>
                      <a:pPr algn="ctr" fontAlgn="b">
                        <a:buNone/>
                      </a:pPr>
                      <a:r>
                        <a:rPr lang="en-IN" sz="1100" u="none" strike="noStrike">
                          <a:solidFill>
                            <a:schemeClr val="bg2">
                              <a:lumMod val="25000"/>
                            </a:schemeClr>
                          </a:solidFill>
                          <a:effectLst/>
                          <a:latin typeface="+mj-lt"/>
                        </a:rPr>
                        <a:t>hum</a:t>
                      </a:r>
                      <a:endParaRPr lang="en-IN" sz="1100" b="0" i="1" u="none" strike="noStrike">
                        <a:solidFill>
                          <a:schemeClr val="bg2">
                            <a:lumMod val="25000"/>
                          </a:schemeClr>
                        </a:solidFill>
                        <a:effectLst/>
                        <a:latin typeface="+mj-lt"/>
                      </a:endParaRPr>
                    </a:p>
                  </a:txBody>
                  <a:tcPr marL="7620" marR="7620" marT="7620" marB="0" anchor="ctr"/>
                </a:tc>
                <a:tc>
                  <a:txBody>
                    <a:bodyPr/>
                    <a:lstStyle/>
                    <a:p>
                      <a:pPr algn="ctr" fontAlgn="b">
                        <a:buNone/>
                      </a:pPr>
                      <a:r>
                        <a:rPr lang="en-IN" sz="1100" u="none" strike="noStrike">
                          <a:solidFill>
                            <a:schemeClr val="bg2">
                              <a:lumMod val="25000"/>
                            </a:schemeClr>
                          </a:solidFill>
                          <a:effectLst/>
                          <a:latin typeface="+mj-lt"/>
                        </a:rPr>
                        <a:t>windspeed</a:t>
                      </a:r>
                      <a:endParaRPr lang="en-IN" sz="1100" b="0" i="1" u="none" strike="noStrike">
                        <a:solidFill>
                          <a:schemeClr val="bg2">
                            <a:lumMod val="25000"/>
                          </a:schemeClr>
                        </a:solidFill>
                        <a:effectLst/>
                        <a:latin typeface="+mj-lt"/>
                      </a:endParaRPr>
                    </a:p>
                  </a:txBody>
                  <a:tcPr marL="7620" marR="7620" marT="7620" marB="0" anchor="ctr"/>
                </a:tc>
                <a:tc>
                  <a:txBody>
                    <a:bodyPr/>
                    <a:lstStyle/>
                    <a:p>
                      <a:pPr algn="ctr" fontAlgn="b">
                        <a:buNone/>
                      </a:pPr>
                      <a:r>
                        <a:rPr lang="en-IN" sz="1100" u="none" strike="noStrike" dirty="0" err="1">
                          <a:solidFill>
                            <a:schemeClr val="bg2">
                              <a:lumMod val="25000"/>
                            </a:schemeClr>
                          </a:solidFill>
                          <a:effectLst/>
                          <a:latin typeface="+mj-lt"/>
                        </a:rPr>
                        <a:t>Cnt</a:t>
                      </a:r>
                      <a:endParaRPr lang="en-IN" sz="1100" b="0" i="1" u="none" strike="noStrike" dirty="0">
                        <a:solidFill>
                          <a:schemeClr val="bg2">
                            <a:lumMod val="25000"/>
                          </a:schemeClr>
                        </a:solidFill>
                        <a:effectLst/>
                        <a:latin typeface="+mj-lt"/>
                      </a:endParaRPr>
                    </a:p>
                  </a:txBody>
                  <a:tcPr marL="7620" marR="7620" marT="7620" marB="0" anchor="ctr"/>
                </a:tc>
                <a:extLst>
                  <a:ext uri="{0D108BD9-81ED-4DB2-BD59-A6C34878D82A}">
                    <a16:rowId xmlns:a16="http://schemas.microsoft.com/office/drawing/2014/main" val="1934047605"/>
                  </a:ext>
                </a:extLst>
              </a:tr>
              <a:tr h="295273">
                <a:tc>
                  <a:txBody>
                    <a:bodyPr/>
                    <a:lstStyle/>
                    <a:p>
                      <a:pPr algn="ctr" fontAlgn="b">
                        <a:buNone/>
                      </a:pPr>
                      <a:r>
                        <a:rPr lang="en-IN" sz="1100" u="none" strike="noStrike" dirty="0">
                          <a:effectLst/>
                          <a:latin typeface="+mj-lt"/>
                        </a:rPr>
                        <a:t>temp</a:t>
                      </a: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r>
                        <a:rPr lang="en-IN" sz="1100" u="none" strike="noStrike" dirty="0">
                          <a:effectLst/>
                          <a:latin typeface="+mj-lt"/>
                        </a:rPr>
                        <a:t>1</a:t>
                      </a: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endParaRPr lang="en-IN" sz="1100" b="0" i="0" u="none" strike="noStrike">
                        <a:solidFill>
                          <a:srgbClr val="000000"/>
                        </a:solidFill>
                        <a:effectLst/>
                        <a:latin typeface="+mj-lt"/>
                      </a:endParaRPr>
                    </a:p>
                  </a:txBody>
                  <a:tcPr marL="7620" marR="7620" marT="7620" marB="0" anchor="ctr"/>
                </a:tc>
                <a:tc>
                  <a:txBody>
                    <a:bodyPr/>
                    <a:lstStyle/>
                    <a:p>
                      <a:pPr algn="ctr" fontAlgn="b">
                        <a:buNone/>
                      </a:pPr>
                      <a:endParaRPr lang="en-IN" sz="1100" b="0"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412151596"/>
                  </a:ext>
                </a:extLst>
              </a:tr>
              <a:tr h="295273">
                <a:tc>
                  <a:txBody>
                    <a:bodyPr/>
                    <a:lstStyle/>
                    <a:p>
                      <a:pPr algn="ctr" fontAlgn="b">
                        <a:buNone/>
                      </a:pPr>
                      <a:r>
                        <a:rPr lang="en-IN" sz="1100" u="none" strike="noStrike">
                          <a:effectLst/>
                          <a:latin typeface="+mj-lt"/>
                        </a:rPr>
                        <a:t>hum</a:t>
                      </a:r>
                      <a:endParaRPr lang="en-IN" sz="1100" b="0" i="0" u="none" strike="noStrike">
                        <a:solidFill>
                          <a:srgbClr val="000000"/>
                        </a:solidFill>
                        <a:effectLst/>
                        <a:latin typeface="+mj-lt"/>
                      </a:endParaRPr>
                    </a:p>
                  </a:txBody>
                  <a:tcPr marL="7620" marR="7620" marT="7620" marB="0" anchor="ctr"/>
                </a:tc>
                <a:tc>
                  <a:txBody>
                    <a:bodyPr/>
                    <a:lstStyle/>
                    <a:p>
                      <a:pPr algn="ctr" fontAlgn="b">
                        <a:buNone/>
                      </a:pPr>
                      <a:r>
                        <a:rPr lang="en-IN" sz="1100" u="none" strike="noStrike" dirty="0">
                          <a:effectLst/>
                          <a:latin typeface="+mj-lt"/>
                        </a:rPr>
                        <a:t>0.0807201</a:t>
                      </a: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r>
                        <a:rPr lang="en-IN" sz="1100" u="none" strike="noStrike" dirty="0">
                          <a:effectLst/>
                          <a:latin typeface="+mj-lt"/>
                        </a:rPr>
                        <a:t>1</a:t>
                      </a: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endParaRPr lang="en-IN" sz="1100" b="0"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3915045929"/>
                  </a:ext>
                </a:extLst>
              </a:tr>
              <a:tr h="295273">
                <a:tc>
                  <a:txBody>
                    <a:bodyPr/>
                    <a:lstStyle/>
                    <a:p>
                      <a:pPr algn="ctr" fontAlgn="b">
                        <a:buNone/>
                      </a:pPr>
                      <a:r>
                        <a:rPr lang="en-IN" sz="1100" u="none" strike="noStrike">
                          <a:effectLst/>
                          <a:latin typeface="+mj-lt"/>
                        </a:rPr>
                        <a:t>windspeed</a:t>
                      </a:r>
                      <a:endParaRPr lang="en-IN" sz="1100" b="0" i="0" u="none" strike="noStrike">
                        <a:solidFill>
                          <a:srgbClr val="000000"/>
                        </a:solidFill>
                        <a:effectLst/>
                        <a:latin typeface="+mj-lt"/>
                      </a:endParaRPr>
                    </a:p>
                  </a:txBody>
                  <a:tcPr marL="7620" marR="7620" marT="7620" marB="0" anchor="ctr"/>
                </a:tc>
                <a:tc>
                  <a:txBody>
                    <a:bodyPr/>
                    <a:lstStyle/>
                    <a:p>
                      <a:pPr algn="ctr" fontAlgn="b">
                        <a:buNone/>
                      </a:pPr>
                      <a:r>
                        <a:rPr lang="en-IN" sz="1100" u="none" strike="noStrike" dirty="0">
                          <a:effectLst/>
                          <a:latin typeface="+mj-lt"/>
                        </a:rPr>
                        <a:t>0.1226253</a:t>
                      </a: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r>
                        <a:rPr lang="en-IN" sz="1100" u="none" strike="noStrike" dirty="0">
                          <a:effectLst/>
                          <a:latin typeface="+mj-lt"/>
                        </a:rPr>
                        <a:t>-0.38555</a:t>
                      </a: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r>
                        <a:rPr lang="en-IN" sz="1100" u="none" strike="noStrike" dirty="0">
                          <a:effectLst/>
                          <a:latin typeface="+mj-lt"/>
                        </a:rPr>
                        <a:t>1</a:t>
                      </a: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endParaRPr lang="en-IN" sz="1100" b="0"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3150094826"/>
                  </a:ext>
                </a:extLst>
              </a:tr>
              <a:tr h="602849">
                <a:tc>
                  <a:txBody>
                    <a:bodyPr/>
                    <a:lstStyle/>
                    <a:p>
                      <a:pPr algn="ctr" fontAlgn="b">
                        <a:buNone/>
                      </a:pPr>
                      <a:r>
                        <a:rPr lang="en-IN" sz="1100" u="none" strike="noStrike">
                          <a:effectLst/>
                          <a:latin typeface="+mj-lt"/>
                        </a:rPr>
                        <a:t>cnt</a:t>
                      </a:r>
                      <a:endParaRPr lang="en-IN" sz="1100" b="0" i="0" u="none" strike="noStrike">
                        <a:solidFill>
                          <a:srgbClr val="000000"/>
                        </a:solidFill>
                        <a:effectLst/>
                        <a:latin typeface="+mj-lt"/>
                      </a:endParaRPr>
                    </a:p>
                  </a:txBody>
                  <a:tcPr marL="7620" marR="7620" marT="7620" marB="0" anchor="ctr"/>
                </a:tc>
                <a:tc>
                  <a:txBody>
                    <a:bodyPr/>
                    <a:lstStyle/>
                    <a:p>
                      <a:pPr algn="ctr" fontAlgn="b">
                        <a:buNone/>
                      </a:pPr>
                      <a:r>
                        <a:rPr lang="en-IN" sz="1100" u="none" strike="noStrike">
                          <a:effectLst/>
                          <a:latin typeface="+mj-lt"/>
                        </a:rPr>
                        <a:t>0.2292916</a:t>
                      </a:r>
                      <a:endParaRPr lang="en-IN" sz="1100" b="0" i="0" u="none" strike="noStrike">
                        <a:solidFill>
                          <a:srgbClr val="000000"/>
                        </a:solidFill>
                        <a:effectLst/>
                        <a:latin typeface="+mj-lt"/>
                      </a:endParaRPr>
                    </a:p>
                  </a:txBody>
                  <a:tcPr marL="7620" marR="7620" marT="7620" marB="0" anchor="ctr"/>
                </a:tc>
                <a:tc>
                  <a:txBody>
                    <a:bodyPr/>
                    <a:lstStyle/>
                    <a:p>
                      <a:pPr algn="ctr" fontAlgn="b">
                        <a:buNone/>
                      </a:pPr>
                      <a:r>
                        <a:rPr lang="en-IN" sz="1100" u="none" strike="noStrike" dirty="0">
                          <a:effectLst/>
                          <a:latin typeface="+mj-lt"/>
                        </a:rPr>
                        <a:t>-0.254353</a:t>
                      </a: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r>
                        <a:rPr lang="en-IN" sz="1100" u="none" strike="noStrike" dirty="0">
                          <a:effectLst/>
                          <a:latin typeface="+mj-lt"/>
                        </a:rPr>
                        <a:t>0.1039967</a:t>
                      </a:r>
                      <a:endParaRPr lang="en-IN" sz="1100" b="0" i="0" u="none" strike="noStrike" dirty="0">
                        <a:solidFill>
                          <a:srgbClr val="000000"/>
                        </a:solidFill>
                        <a:effectLst/>
                        <a:latin typeface="+mj-lt"/>
                      </a:endParaRPr>
                    </a:p>
                  </a:txBody>
                  <a:tcPr marL="7620" marR="7620" marT="7620" marB="0" anchor="ctr"/>
                </a:tc>
                <a:tc>
                  <a:txBody>
                    <a:bodyPr/>
                    <a:lstStyle/>
                    <a:p>
                      <a:pPr algn="ctr" fontAlgn="b">
                        <a:buNone/>
                      </a:pPr>
                      <a:r>
                        <a:rPr lang="en-IN" sz="1100" u="none" strike="noStrike" dirty="0">
                          <a:effectLst/>
                          <a:latin typeface="+mj-lt"/>
                        </a:rPr>
                        <a:t>1</a:t>
                      </a:r>
                      <a:endParaRPr lang="en-IN" sz="1100" b="0"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3634905049"/>
                  </a:ext>
                </a:extLst>
              </a:tr>
            </a:tbl>
          </a:graphicData>
        </a:graphic>
      </p:graphicFrame>
      <p:sp>
        <p:nvSpPr>
          <p:cNvPr id="7" name="Rectangle: Rounded Corners 6">
            <a:extLst>
              <a:ext uri="{FF2B5EF4-FFF2-40B4-BE49-F238E27FC236}">
                <a16:creationId xmlns:a16="http://schemas.microsoft.com/office/drawing/2014/main" id="{78A78EA8-300D-BB48-09CE-79F6F6E8270C}"/>
              </a:ext>
            </a:extLst>
          </p:cNvPr>
          <p:cNvSpPr/>
          <p:nvPr/>
        </p:nvSpPr>
        <p:spPr>
          <a:xfrm>
            <a:off x="6096000" y="1189703"/>
            <a:ext cx="5486400" cy="49357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n-IN" dirty="0"/>
              <a:t>Bike rental demand is slightly influenced by temperature (positive correlation ~0.23) and negatively impacted by humidity (~ -0.25), indicating users prefer comfortable and less humid weather. Windspeed has minimal effect on demand. Additionally, humidity and windspeed show a moderate inverse relationship, reflecting environmental interaction.</a:t>
            </a:r>
          </a:p>
          <a:p>
            <a:pPr marL="285750" indent="-285750">
              <a:buFont typeface="Arial" panose="020B0604020202020204" pitchFamily="34" charset="0"/>
              <a:buChar char="•"/>
            </a:pPr>
            <a:r>
              <a:rPr lang="en-US" dirty="0"/>
              <a:t>People prefer riding in comfortable weather</a:t>
            </a:r>
          </a:p>
          <a:p>
            <a:pPr marL="285750" indent="-285750">
              <a:buFont typeface="Arial" panose="020B0604020202020204" pitchFamily="34" charset="0"/>
              <a:buChar char="•"/>
            </a:pPr>
            <a:r>
              <a:rPr lang="en-US" dirty="0"/>
              <a:t>High humidity = uncomfortable → fewer rides</a:t>
            </a:r>
          </a:p>
          <a:p>
            <a:pPr marL="285750" indent="-285750">
              <a:buFont typeface="Arial" panose="020B0604020202020204" pitchFamily="34" charset="0"/>
              <a:buChar char="•"/>
            </a:pPr>
            <a:r>
              <a:rPr lang="en-US" dirty="0"/>
              <a:t>Wind doesn’t strongly affect rental decisions</a:t>
            </a:r>
          </a:p>
          <a:p>
            <a:endParaRPr lang="en-IN" dirty="0"/>
          </a:p>
          <a:p>
            <a:endParaRPr lang="en-IN" dirty="0"/>
          </a:p>
        </p:txBody>
      </p:sp>
      <p:graphicFrame>
        <p:nvGraphicFramePr>
          <p:cNvPr id="8" name="Table 7">
            <a:extLst>
              <a:ext uri="{FF2B5EF4-FFF2-40B4-BE49-F238E27FC236}">
                <a16:creationId xmlns:a16="http://schemas.microsoft.com/office/drawing/2014/main" id="{3C79B2F9-6511-7367-CEC5-20797B74836A}"/>
              </a:ext>
            </a:extLst>
          </p:cNvPr>
          <p:cNvGraphicFramePr>
            <a:graphicFrameLocks noGrp="1"/>
          </p:cNvGraphicFramePr>
          <p:nvPr>
            <p:extLst>
              <p:ext uri="{D42A27DB-BD31-4B8C-83A1-F6EECF244321}">
                <p14:modId xmlns:p14="http://schemas.microsoft.com/office/powerpoint/2010/main" val="1021701554"/>
              </p:ext>
            </p:extLst>
          </p:nvPr>
        </p:nvGraphicFramePr>
        <p:xfrm>
          <a:off x="317703" y="3983906"/>
          <a:ext cx="5588411" cy="2407063"/>
        </p:xfrm>
        <a:graphic>
          <a:graphicData uri="http://schemas.openxmlformats.org/drawingml/2006/table">
            <a:tbl>
              <a:tblPr firstRow="1">
                <a:tableStyleId>{5C22544A-7EE6-4342-B048-85BDC9FD1C3A}</a:tableStyleId>
              </a:tblPr>
              <a:tblGrid>
                <a:gridCol w="2872323">
                  <a:extLst>
                    <a:ext uri="{9D8B030D-6E8A-4147-A177-3AD203B41FA5}">
                      <a16:colId xmlns:a16="http://schemas.microsoft.com/office/drawing/2014/main" val="460550588"/>
                    </a:ext>
                  </a:extLst>
                </a:gridCol>
                <a:gridCol w="2716088">
                  <a:extLst>
                    <a:ext uri="{9D8B030D-6E8A-4147-A177-3AD203B41FA5}">
                      <a16:colId xmlns:a16="http://schemas.microsoft.com/office/drawing/2014/main" val="3917137906"/>
                    </a:ext>
                  </a:extLst>
                </a:gridCol>
              </a:tblGrid>
              <a:tr h="275856">
                <a:tc>
                  <a:txBody>
                    <a:bodyPr/>
                    <a:lstStyle/>
                    <a:p>
                      <a:pPr algn="ctr" fontAlgn="b">
                        <a:buNone/>
                      </a:pPr>
                      <a:r>
                        <a:rPr lang="en-IN" sz="1100" u="none" strike="noStrike" dirty="0">
                          <a:solidFill>
                            <a:schemeClr val="bg2">
                              <a:lumMod val="25000"/>
                            </a:schemeClr>
                          </a:solidFill>
                          <a:effectLst/>
                        </a:rPr>
                        <a:t>Relation</a:t>
                      </a:r>
                      <a:endParaRPr lang="en-IN" sz="1100" b="0" i="1" u="none" strike="noStrike" dirty="0">
                        <a:solidFill>
                          <a:schemeClr val="bg2">
                            <a:lumMod val="25000"/>
                          </a:schemeClr>
                        </a:solidFill>
                        <a:effectLst/>
                        <a:latin typeface="Aptos Narrow" panose="020B0004020202020204" pitchFamily="34" charset="0"/>
                      </a:endParaRPr>
                    </a:p>
                  </a:txBody>
                  <a:tcPr marL="7620" marR="7620" marT="7620" marB="0" anchor="b"/>
                </a:tc>
                <a:tc>
                  <a:txBody>
                    <a:bodyPr/>
                    <a:lstStyle/>
                    <a:p>
                      <a:pPr algn="ctr" fontAlgn="b">
                        <a:buNone/>
                      </a:pPr>
                      <a:r>
                        <a:rPr lang="en-IN" sz="1100" u="none" strike="noStrike" dirty="0">
                          <a:solidFill>
                            <a:schemeClr val="bg2">
                              <a:lumMod val="25000"/>
                            </a:schemeClr>
                          </a:solidFill>
                          <a:effectLst/>
                        </a:rPr>
                        <a:t>Observations</a:t>
                      </a:r>
                      <a:endParaRPr lang="en-IN" sz="1100" b="0" i="0" u="none" strike="noStrike" dirty="0">
                        <a:solidFill>
                          <a:schemeClr val="bg2">
                            <a:lumMod val="25000"/>
                          </a:schemeClr>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71224279"/>
                  </a:ext>
                </a:extLst>
              </a:tr>
              <a:tr h="392114">
                <a:tc>
                  <a:txBody>
                    <a:bodyPr/>
                    <a:lstStyle/>
                    <a:p>
                      <a:pPr algn="l" fontAlgn="b">
                        <a:buNone/>
                      </a:pPr>
                      <a:r>
                        <a:rPr lang="en-US" sz="1000" u="none" strike="noStrike">
                          <a:effectLst/>
                        </a:rPr>
                        <a:t>temp vs cnt = +0.229</a:t>
                      </a:r>
                      <a:r>
                        <a:rPr lang="en-US" sz="1100" u="none" strike="noStrike">
                          <a:effectLst/>
                        </a:rPr>
                        <a:t> (Weak Positive)</a:t>
                      </a:r>
                      <a:endParaRPr lang="en-US" sz="1000" b="0" i="0" u="none" strike="noStrike">
                        <a:solidFill>
                          <a:srgbClr val="000000"/>
                        </a:solidFill>
                        <a:effectLst/>
                        <a:latin typeface="Arial Unicode MS"/>
                      </a:endParaRPr>
                    </a:p>
                  </a:txBody>
                  <a:tcPr marL="7620" marR="7620" marT="7620" marB="0" anchor="b"/>
                </a:tc>
                <a:tc>
                  <a:txBody>
                    <a:bodyPr/>
                    <a:lstStyle/>
                    <a:p>
                      <a:pPr algn="l" fontAlgn="b">
                        <a:buNone/>
                      </a:pPr>
                      <a:r>
                        <a:rPr lang="en-US" sz="1100" u="none" strike="noStrike">
                          <a:effectLst/>
                        </a:rPr>
                        <a:t>temperature increases → rentals slightly increase </a:t>
                      </a: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529546617"/>
                  </a:ext>
                </a:extLst>
              </a:tr>
              <a:tr h="287850">
                <a:tc>
                  <a:txBody>
                    <a:bodyPr/>
                    <a:lstStyle/>
                    <a:p>
                      <a:pPr algn="l" fontAlgn="b">
                        <a:buNone/>
                      </a:pPr>
                      <a:r>
                        <a:rPr lang="en-US" sz="1000" u="none" strike="noStrike" dirty="0">
                          <a:effectLst/>
                        </a:rPr>
                        <a:t>hum vs </a:t>
                      </a:r>
                      <a:r>
                        <a:rPr lang="en-US" sz="1000" u="none" strike="noStrike" dirty="0" err="1">
                          <a:effectLst/>
                        </a:rPr>
                        <a:t>cnt</a:t>
                      </a:r>
                      <a:r>
                        <a:rPr lang="en-US" sz="1000" u="none" strike="noStrike" dirty="0">
                          <a:effectLst/>
                        </a:rPr>
                        <a:t> = -0.254</a:t>
                      </a:r>
                      <a:r>
                        <a:rPr lang="en-US" sz="1100" u="none" strike="noStrike" dirty="0">
                          <a:effectLst/>
                        </a:rPr>
                        <a:t> (Weak Negative)</a:t>
                      </a:r>
                      <a:endParaRPr lang="en-US" sz="1000" b="0" i="0" u="none" strike="noStrike" dirty="0">
                        <a:solidFill>
                          <a:srgbClr val="000000"/>
                        </a:solidFill>
                        <a:effectLst/>
                        <a:latin typeface="Arial Unicode MS"/>
                      </a:endParaRPr>
                    </a:p>
                  </a:txBody>
                  <a:tcPr marL="7620" marR="7620" marT="7620" marB="0" anchor="b"/>
                </a:tc>
                <a:tc>
                  <a:txBody>
                    <a:bodyPr/>
                    <a:lstStyle/>
                    <a:p>
                      <a:pPr algn="l" fontAlgn="b">
                        <a:buNone/>
                      </a:pPr>
                      <a:r>
                        <a:rPr lang="en-US" sz="1100" u="none" strike="noStrike">
                          <a:effectLst/>
                        </a:rPr>
                        <a:t>As humidity increases → rentals decrease</a:t>
                      </a: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322460735"/>
                  </a:ext>
                </a:extLst>
              </a:tr>
              <a:tr h="287850">
                <a:tc>
                  <a:txBody>
                    <a:bodyPr/>
                    <a:lstStyle/>
                    <a:p>
                      <a:pPr algn="l" fontAlgn="b">
                        <a:buNone/>
                      </a:pPr>
                      <a:r>
                        <a:rPr lang="en-US" sz="1000" u="none" strike="noStrike">
                          <a:effectLst/>
                        </a:rPr>
                        <a:t>windspeed vs cnt = +0.104</a:t>
                      </a:r>
                      <a:r>
                        <a:rPr lang="en-US" sz="1100" u="none" strike="noStrike">
                          <a:effectLst/>
                        </a:rPr>
                        <a:t> (Very Weak)</a:t>
                      </a:r>
                      <a:endParaRPr lang="en-US" sz="1000" b="0" i="0" u="none" strike="noStrike">
                        <a:solidFill>
                          <a:srgbClr val="000000"/>
                        </a:solidFill>
                        <a:effectLst/>
                        <a:latin typeface="Arial Unicode MS"/>
                      </a:endParaRPr>
                    </a:p>
                  </a:txBody>
                  <a:tcPr marL="7620" marR="7620" marT="7620" marB="0" anchor="b"/>
                </a:tc>
                <a:tc>
                  <a:txBody>
                    <a:bodyPr/>
                    <a:lstStyle/>
                    <a:p>
                      <a:pPr algn="l" fontAlgn="b">
                        <a:buNone/>
                      </a:pPr>
                      <a:r>
                        <a:rPr lang="en-IN" sz="1100" u="none" strike="noStrike">
                          <a:effectLst/>
                        </a:rPr>
                        <a:t>no relationship</a:t>
                      </a:r>
                      <a:endParaRPr lang="en-IN"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971407179"/>
                  </a:ext>
                </a:extLst>
              </a:tr>
              <a:tr h="587693">
                <a:tc>
                  <a:txBody>
                    <a:bodyPr/>
                    <a:lstStyle/>
                    <a:p>
                      <a:pPr algn="l" fontAlgn="b">
                        <a:buNone/>
                      </a:pPr>
                      <a:r>
                        <a:rPr lang="en-US" sz="1000" u="none" strike="noStrike" dirty="0">
                          <a:effectLst/>
                        </a:rPr>
                        <a:t>hum vs windspeed = -0.385</a:t>
                      </a:r>
                      <a:r>
                        <a:rPr lang="en-US" sz="1100" u="none" strike="noStrike" dirty="0">
                          <a:effectLst/>
                        </a:rPr>
                        <a:t> (Moderate Negative)</a:t>
                      </a:r>
                      <a:endParaRPr lang="en-US" sz="1000" b="0" i="0" u="none" strike="noStrike" dirty="0">
                        <a:solidFill>
                          <a:srgbClr val="000000"/>
                        </a:solidFill>
                        <a:effectLst/>
                        <a:latin typeface="Arial Unicode MS"/>
                      </a:endParaRPr>
                    </a:p>
                  </a:txBody>
                  <a:tcPr marL="7620" marR="7620" marT="7620" marB="0" anchor="b"/>
                </a:tc>
                <a:tc>
                  <a:txBody>
                    <a:bodyPr/>
                    <a:lstStyle/>
                    <a:p>
                      <a:pPr algn="l" fontAlgn="b">
                        <a:buNone/>
                      </a:pPr>
                      <a:r>
                        <a:rPr lang="en-US" sz="1100" u="none" strike="noStrike">
                          <a:effectLst/>
                        </a:rPr>
                        <a:t>When wind increases → humidity decreases</a:t>
                      </a:r>
                      <a:br>
                        <a:rPr lang="en-US" sz="1100" u="none" strike="noStrike">
                          <a:effectLst/>
                        </a:rPr>
                      </a:br>
                      <a:r>
                        <a:rPr lang="en-US" sz="1100" u="none" strike="noStrike">
                          <a:effectLst/>
                        </a:rPr>
                        <a:t>Weather conditions are interconnected</a:t>
                      </a: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063696892"/>
                  </a:ext>
                </a:extLst>
              </a:tr>
              <a:tr h="287850">
                <a:tc>
                  <a:txBody>
                    <a:bodyPr/>
                    <a:lstStyle/>
                    <a:p>
                      <a:pPr algn="l" fontAlgn="b">
                        <a:buNone/>
                      </a:pPr>
                      <a:r>
                        <a:rPr lang="pt-BR" sz="1000" u="none" strike="noStrike">
                          <a:effectLst/>
                        </a:rPr>
                        <a:t>temp vs hum = +0.08</a:t>
                      </a:r>
                      <a:r>
                        <a:rPr lang="pt-BR" sz="1100" u="none" strike="noStrike">
                          <a:effectLst/>
                        </a:rPr>
                        <a:t> (No real relation)</a:t>
                      </a:r>
                      <a:endParaRPr lang="pt-BR" sz="1000" b="0" i="0" u="none" strike="noStrike">
                        <a:solidFill>
                          <a:srgbClr val="000000"/>
                        </a:solidFill>
                        <a:effectLst/>
                        <a:latin typeface="Arial Unicode MS"/>
                      </a:endParaRPr>
                    </a:p>
                  </a:txBody>
                  <a:tcPr marL="7620" marR="7620" marT="7620" marB="0" anchor="b"/>
                </a:tc>
                <a:tc>
                  <a:txBody>
                    <a:bodyPr/>
                    <a:lstStyle/>
                    <a:p>
                      <a:pPr algn="l" fontAlgn="b">
                        <a:buNone/>
                      </a:pPr>
                      <a:r>
                        <a:rPr lang="en-IN" sz="1100" u="none" strike="noStrike">
                          <a:effectLst/>
                        </a:rPr>
                        <a:t>Independent variables </a:t>
                      </a:r>
                      <a:endParaRPr lang="en-IN"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19030960"/>
                  </a:ext>
                </a:extLst>
              </a:tr>
              <a:tr h="287850">
                <a:tc>
                  <a:txBody>
                    <a:bodyPr/>
                    <a:lstStyle/>
                    <a:p>
                      <a:pPr algn="l" fontAlgn="b">
                        <a:buNone/>
                      </a:pPr>
                      <a:r>
                        <a:rPr lang="en-US" sz="1000" u="none" strike="noStrike">
                          <a:effectLst/>
                        </a:rPr>
                        <a:t>temp vs windspeed = +0.12</a:t>
                      </a:r>
                      <a:r>
                        <a:rPr lang="en-US" sz="1100" u="none" strike="noStrike">
                          <a:effectLst/>
                        </a:rPr>
                        <a:t> (Very weak)</a:t>
                      </a:r>
                      <a:endParaRPr lang="en-US" sz="1000" b="0" i="0" u="none" strike="noStrike">
                        <a:solidFill>
                          <a:srgbClr val="000000"/>
                        </a:solidFill>
                        <a:effectLst/>
                        <a:latin typeface="Arial Unicode MS"/>
                      </a:endParaRPr>
                    </a:p>
                  </a:txBody>
                  <a:tcPr marL="7620" marR="7620" marT="7620" marB="0" anchor="b"/>
                </a:tc>
                <a:tc>
                  <a:txBody>
                    <a:bodyPr/>
                    <a:lstStyle/>
                    <a:p>
                      <a:pPr algn="l" fontAlgn="b">
                        <a:buNone/>
                      </a:pPr>
                      <a:r>
                        <a:rPr lang="en-IN" sz="1100" u="none" strike="noStrike" dirty="0">
                          <a:effectLst/>
                        </a:rPr>
                        <a:t>No strong dependency</a:t>
                      </a:r>
                      <a:endParaRPr lang="en-IN"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805122980"/>
                  </a:ext>
                </a:extLst>
              </a:tr>
            </a:tbl>
          </a:graphicData>
        </a:graphic>
      </p:graphicFrame>
    </p:spTree>
    <p:extLst>
      <p:ext uri="{BB962C8B-B14F-4D97-AF65-F5344CB8AC3E}">
        <p14:creationId xmlns:p14="http://schemas.microsoft.com/office/powerpoint/2010/main" val="2115530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14A36-5504-3155-001D-AEE2602B7ED7}"/>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2EAED7B-9C7F-71F9-0691-C5BE7D4ACB48}"/>
              </a:ext>
            </a:extLst>
          </p:cNvPr>
          <p:cNvSpPr/>
          <p:nvPr/>
        </p:nvSpPr>
        <p:spPr>
          <a:xfrm>
            <a:off x="216310" y="-108154"/>
            <a:ext cx="11729884" cy="58993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000" b="1" dirty="0">
                <a:solidFill>
                  <a:schemeClr val="tx1">
                    <a:lumMod val="85000"/>
                    <a:lumOff val="15000"/>
                  </a:schemeClr>
                </a:solidFill>
              </a:rPr>
              <a:t>Dashboard</a:t>
            </a:r>
            <a:endParaRPr lang="en-IN" b="1" dirty="0">
              <a:solidFill>
                <a:schemeClr val="tx1">
                  <a:lumMod val="85000"/>
                  <a:lumOff val="15000"/>
                </a:schemeClr>
              </a:solidFill>
            </a:endParaRPr>
          </a:p>
        </p:txBody>
      </p:sp>
      <p:pic>
        <p:nvPicPr>
          <p:cNvPr id="4" name="Picture 3">
            <a:extLst>
              <a:ext uri="{FF2B5EF4-FFF2-40B4-BE49-F238E27FC236}">
                <a16:creationId xmlns:a16="http://schemas.microsoft.com/office/drawing/2014/main" id="{40DAC6B6-59B7-AE2D-1DFE-92A99EE282FD}"/>
              </a:ext>
            </a:extLst>
          </p:cNvPr>
          <p:cNvPicPr>
            <a:picLocks noChangeAspect="1"/>
          </p:cNvPicPr>
          <p:nvPr/>
        </p:nvPicPr>
        <p:blipFill>
          <a:blip r:embed="rId2"/>
          <a:srcRect t="772"/>
          <a:stretch>
            <a:fillRect/>
          </a:stretch>
        </p:blipFill>
        <p:spPr>
          <a:xfrm>
            <a:off x="231058" y="648929"/>
            <a:ext cx="11729884" cy="5902636"/>
          </a:xfrm>
          <a:prstGeom prst="rect">
            <a:avLst/>
          </a:prstGeom>
        </p:spPr>
      </p:pic>
    </p:spTree>
    <p:extLst>
      <p:ext uri="{BB962C8B-B14F-4D97-AF65-F5344CB8AC3E}">
        <p14:creationId xmlns:p14="http://schemas.microsoft.com/office/powerpoint/2010/main" val="3063123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8D378-D6C2-848E-2AEA-6F3BBE78D6F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F5D9B3D-A936-99AE-7F81-366C981230C2}"/>
              </a:ext>
            </a:extLst>
          </p:cNvPr>
          <p:cNvSpPr/>
          <p:nvPr/>
        </p:nvSpPr>
        <p:spPr>
          <a:xfrm>
            <a:off x="-15427" y="0"/>
            <a:ext cx="4557282" cy="45102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b="1" dirty="0"/>
              <a:t>Key Charts Used</a:t>
            </a:r>
          </a:p>
        </p:txBody>
      </p:sp>
      <p:pic>
        <p:nvPicPr>
          <p:cNvPr id="4" name="Picture 3">
            <a:extLst>
              <a:ext uri="{FF2B5EF4-FFF2-40B4-BE49-F238E27FC236}">
                <a16:creationId xmlns:a16="http://schemas.microsoft.com/office/drawing/2014/main" id="{4AAA19B4-96F2-F912-BFBD-CDCECABFCF56}"/>
              </a:ext>
            </a:extLst>
          </p:cNvPr>
          <p:cNvPicPr>
            <a:picLocks noChangeAspect="1"/>
          </p:cNvPicPr>
          <p:nvPr/>
        </p:nvPicPr>
        <p:blipFill>
          <a:blip r:embed="rId2"/>
          <a:srcRect l="2155" r="23131"/>
          <a:stretch>
            <a:fillRect/>
          </a:stretch>
        </p:blipFill>
        <p:spPr>
          <a:xfrm>
            <a:off x="4601476" y="72331"/>
            <a:ext cx="3402202" cy="2332943"/>
          </a:xfrm>
          <a:prstGeom prst="rect">
            <a:avLst/>
          </a:prstGeom>
        </p:spPr>
      </p:pic>
      <p:pic>
        <p:nvPicPr>
          <p:cNvPr id="6" name="Picture 5">
            <a:extLst>
              <a:ext uri="{FF2B5EF4-FFF2-40B4-BE49-F238E27FC236}">
                <a16:creationId xmlns:a16="http://schemas.microsoft.com/office/drawing/2014/main" id="{737CFADA-9536-7B51-47F3-E0E0499CB824}"/>
              </a:ext>
            </a:extLst>
          </p:cNvPr>
          <p:cNvPicPr>
            <a:picLocks noChangeAspect="1"/>
          </p:cNvPicPr>
          <p:nvPr/>
        </p:nvPicPr>
        <p:blipFill>
          <a:blip r:embed="rId3"/>
          <a:srcRect l="2155" t="2143" r="2197"/>
          <a:stretch>
            <a:fillRect/>
          </a:stretch>
        </p:blipFill>
        <p:spPr>
          <a:xfrm>
            <a:off x="305978" y="541145"/>
            <a:ext cx="4145442" cy="1893293"/>
          </a:xfrm>
          <a:prstGeom prst="rect">
            <a:avLst/>
          </a:prstGeom>
        </p:spPr>
      </p:pic>
      <p:pic>
        <p:nvPicPr>
          <p:cNvPr id="8" name="Picture 7">
            <a:extLst>
              <a:ext uri="{FF2B5EF4-FFF2-40B4-BE49-F238E27FC236}">
                <a16:creationId xmlns:a16="http://schemas.microsoft.com/office/drawing/2014/main" id="{9DC59E5C-851D-334E-C930-468CCD3BD865}"/>
              </a:ext>
            </a:extLst>
          </p:cNvPr>
          <p:cNvPicPr>
            <a:picLocks noChangeAspect="1"/>
          </p:cNvPicPr>
          <p:nvPr/>
        </p:nvPicPr>
        <p:blipFill>
          <a:blip r:embed="rId4"/>
          <a:srcRect l="2391" t="3728"/>
          <a:stretch>
            <a:fillRect/>
          </a:stretch>
        </p:blipFill>
        <p:spPr>
          <a:xfrm>
            <a:off x="8302852" y="4764823"/>
            <a:ext cx="3583170" cy="1949658"/>
          </a:xfrm>
          <a:prstGeom prst="rect">
            <a:avLst/>
          </a:prstGeom>
        </p:spPr>
      </p:pic>
      <p:pic>
        <p:nvPicPr>
          <p:cNvPr id="10" name="Picture 9">
            <a:extLst>
              <a:ext uri="{FF2B5EF4-FFF2-40B4-BE49-F238E27FC236}">
                <a16:creationId xmlns:a16="http://schemas.microsoft.com/office/drawing/2014/main" id="{5E7C2D90-135F-9ADC-3516-6F715307500F}"/>
              </a:ext>
            </a:extLst>
          </p:cNvPr>
          <p:cNvPicPr>
            <a:picLocks noChangeAspect="1"/>
          </p:cNvPicPr>
          <p:nvPr/>
        </p:nvPicPr>
        <p:blipFill>
          <a:blip r:embed="rId5"/>
          <a:stretch>
            <a:fillRect/>
          </a:stretch>
        </p:blipFill>
        <p:spPr>
          <a:xfrm>
            <a:off x="8063299" y="72332"/>
            <a:ext cx="3822723" cy="2288081"/>
          </a:xfrm>
          <a:prstGeom prst="rect">
            <a:avLst/>
          </a:prstGeom>
        </p:spPr>
      </p:pic>
      <p:pic>
        <p:nvPicPr>
          <p:cNvPr id="12" name="Picture 11">
            <a:extLst>
              <a:ext uri="{FF2B5EF4-FFF2-40B4-BE49-F238E27FC236}">
                <a16:creationId xmlns:a16="http://schemas.microsoft.com/office/drawing/2014/main" id="{F3CEBADD-6FE9-6EAA-5C28-307E85BD725A}"/>
              </a:ext>
            </a:extLst>
          </p:cNvPr>
          <p:cNvPicPr>
            <a:picLocks noChangeAspect="1"/>
          </p:cNvPicPr>
          <p:nvPr/>
        </p:nvPicPr>
        <p:blipFill>
          <a:blip r:embed="rId6"/>
          <a:srcRect l="795" t="2348"/>
          <a:stretch>
            <a:fillRect/>
          </a:stretch>
        </p:blipFill>
        <p:spPr>
          <a:xfrm>
            <a:off x="305979" y="2524554"/>
            <a:ext cx="7697699" cy="2332944"/>
          </a:xfrm>
          <a:prstGeom prst="rect">
            <a:avLst/>
          </a:prstGeom>
        </p:spPr>
      </p:pic>
      <p:pic>
        <p:nvPicPr>
          <p:cNvPr id="14" name="Picture 13">
            <a:extLst>
              <a:ext uri="{FF2B5EF4-FFF2-40B4-BE49-F238E27FC236}">
                <a16:creationId xmlns:a16="http://schemas.microsoft.com/office/drawing/2014/main" id="{CC325149-23EC-209A-2F88-CF18C047045D}"/>
              </a:ext>
            </a:extLst>
          </p:cNvPr>
          <p:cNvPicPr>
            <a:picLocks noChangeAspect="1"/>
          </p:cNvPicPr>
          <p:nvPr/>
        </p:nvPicPr>
        <p:blipFill>
          <a:blip r:embed="rId7"/>
          <a:stretch>
            <a:fillRect/>
          </a:stretch>
        </p:blipFill>
        <p:spPr>
          <a:xfrm>
            <a:off x="8302852" y="2486311"/>
            <a:ext cx="3583170" cy="2152614"/>
          </a:xfrm>
          <a:prstGeom prst="rect">
            <a:avLst/>
          </a:prstGeom>
        </p:spPr>
      </p:pic>
      <p:pic>
        <p:nvPicPr>
          <p:cNvPr id="16" name="Picture 15">
            <a:extLst>
              <a:ext uri="{FF2B5EF4-FFF2-40B4-BE49-F238E27FC236}">
                <a16:creationId xmlns:a16="http://schemas.microsoft.com/office/drawing/2014/main" id="{99BAD21C-62EC-FDE8-B0C4-8CF17595F710}"/>
              </a:ext>
            </a:extLst>
          </p:cNvPr>
          <p:cNvPicPr>
            <a:picLocks noChangeAspect="1"/>
          </p:cNvPicPr>
          <p:nvPr/>
        </p:nvPicPr>
        <p:blipFill>
          <a:blip r:embed="rId8"/>
          <a:srcRect l="1072" t="5341"/>
          <a:stretch>
            <a:fillRect/>
          </a:stretch>
        </p:blipFill>
        <p:spPr>
          <a:xfrm>
            <a:off x="114849" y="4895742"/>
            <a:ext cx="8079955" cy="1818739"/>
          </a:xfrm>
          <a:prstGeom prst="rect">
            <a:avLst/>
          </a:prstGeom>
        </p:spPr>
      </p:pic>
    </p:spTree>
    <p:extLst>
      <p:ext uri="{BB962C8B-B14F-4D97-AF65-F5344CB8AC3E}">
        <p14:creationId xmlns:p14="http://schemas.microsoft.com/office/powerpoint/2010/main" val="2788744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6E996-EB56-6B76-70C1-C1B2E7BB48BE}"/>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CAF1A88-CF40-6684-FC59-D12A2392E971}"/>
              </a:ext>
            </a:extLst>
          </p:cNvPr>
          <p:cNvSpPr/>
          <p:nvPr/>
        </p:nvSpPr>
        <p:spPr>
          <a:xfrm>
            <a:off x="216310" y="-108154"/>
            <a:ext cx="11729884" cy="58993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000" b="1" dirty="0"/>
              <a:t>Key Insights</a:t>
            </a:r>
          </a:p>
        </p:txBody>
      </p:sp>
      <p:sp>
        <p:nvSpPr>
          <p:cNvPr id="2" name="Rectangle: Rounded Corners 1">
            <a:extLst>
              <a:ext uri="{FF2B5EF4-FFF2-40B4-BE49-F238E27FC236}">
                <a16:creationId xmlns:a16="http://schemas.microsoft.com/office/drawing/2014/main" id="{C5A16B95-283F-44B5-C4E3-CA0D1A372743}"/>
              </a:ext>
            </a:extLst>
          </p:cNvPr>
          <p:cNvSpPr/>
          <p:nvPr/>
        </p:nvSpPr>
        <p:spPr>
          <a:xfrm>
            <a:off x="562896" y="983226"/>
            <a:ext cx="4434349" cy="98322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endParaRPr lang="en-US" b="1" dirty="0"/>
          </a:p>
          <a:p>
            <a:r>
              <a:rPr lang="en-US" sz="1600" b="1" dirty="0"/>
              <a:t>Peak Hours Drive Maximum Rentals</a:t>
            </a:r>
          </a:p>
          <a:p>
            <a:pPr marL="285750" indent="-285750">
              <a:buFont typeface="Arial" panose="020B0604020202020204" pitchFamily="34" charset="0"/>
              <a:buChar char="•"/>
            </a:pPr>
            <a:r>
              <a:rPr lang="en-US" sz="1400" dirty="0"/>
              <a:t>Rentals </a:t>
            </a:r>
            <a:r>
              <a:rPr lang="en-US" sz="1400" b="1" dirty="0"/>
              <a:t>peak around 8 AM and 5–6 PM</a:t>
            </a:r>
            <a:r>
              <a:rPr lang="en-US" sz="1400" dirty="0"/>
              <a:t> </a:t>
            </a:r>
          </a:p>
          <a:p>
            <a:pPr marL="285750" indent="-285750">
              <a:buFont typeface="Arial" panose="020B0604020202020204" pitchFamily="34" charset="0"/>
              <a:buChar char="•"/>
            </a:pPr>
            <a:r>
              <a:rPr lang="en-US" sz="1400" dirty="0"/>
              <a:t>Clear </a:t>
            </a:r>
            <a:r>
              <a:rPr lang="en-US" sz="1400" b="1" dirty="0"/>
              <a:t>office commute pattern</a:t>
            </a:r>
            <a:endParaRPr lang="en-US" sz="1400" dirty="0"/>
          </a:p>
          <a:p>
            <a:pPr algn="ctr"/>
            <a:endParaRPr lang="en-IN" dirty="0"/>
          </a:p>
        </p:txBody>
      </p:sp>
      <p:sp>
        <p:nvSpPr>
          <p:cNvPr id="4" name="Arrow: Right 3">
            <a:extLst>
              <a:ext uri="{FF2B5EF4-FFF2-40B4-BE49-F238E27FC236}">
                <a16:creationId xmlns:a16="http://schemas.microsoft.com/office/drawing/2014/main" id="{BA854FA2-0657-D207-8F46-AF72E275DC16}"/>
              </a:ext>
            </a:extLst>
          </p:cNvPr>
          <p:cNvSpPr/>
          <p:nvPr/>
        </p:nvSpPr>
        <p:spPr>
          <a:xfrm>
            <a:off x="4653116" y="1081549"/>
            <a:ext cx="1956620" cy="7865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5A9C5DB-AE35-7E29-0C3E-08AF8C1D8F0A}"/>
              </a:ext>
            </a:extLst>
          </p:cNvPr>
          <p:cNvSpPr/>
          <p:nvPr/>
        </p:nvSpPr>
        <p:spPr>
          <a:xfrm>
            <a:off x="7329949" y="884903"/>
            <a:ext cx="4119716" cy="98322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t>“Bike usage is highest during commute hours, indicating strong dependency on working professionals.”</a:t>
            </a:r>
            <a:endParaRPr lang="en-IN" sz="1600" dirty="0"/>
          </a:p>
        </p:txBody>
      </p:sp>
      <p:sp>
        <p:nvSpPr>
          <p:cNvPr id="6" name="Rectangle: Rounded Corners 5">
            <a:extLst>
              <a:ext uri="{FF2B5EF4-FFF2-40B4-BE49-F238E27FC236}">
                <a16:creationId xmlns:a16="http://schemas.microsoft.com/office/drawing/2014/main" id="{A85D92FB-7890-3AFC-BC4E-B777763D3E3B}"/>
              </a:ext>
            </a:extLst>
          </p:cNvPr>
          <p:cNvSpPr/>
          <p:nvPr/>
        </p:nvSpPr>
        <p:spPr>
          <a:xfrm>
            <a:off x="562896" y="2341305"/>
            <a:ext cx="4434349" cy="98322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600" b="1" dirty="0"/>
              <a:t>Registered Users Dominate Demand</a:t>
            </a:r>
          </a:p>
          <a:p>
            <a:pPr marL="285750" indent="-285750">
              <a:buFont typeface="Arial" panose="020B0604020202020204" pitchFamily="34" charset="0"/>
              <a:buChar char="•"/>
            </a:pPr>
            <a:r>
              <a:rPr lang="en-US" sz="1400" dirty="0"/>
              <a:t>Registered users (~40K+) &gt;&gt; Casual (~2–3K) </a:t>
            </a:r>
          </a:p>
          <a:p>
            <a:pPr marL="285750" indent="-285750">
              <a:buFont typeface="Arial" panose="020B0604020202020204" pitchFamily="34" charset="0"/>
              <a:buChar char="•"/>
            </a:pPr>
            <a:r>
              <a:rPr lang="en-US" sz="1400" dirty="0"/>
              <a:t>Huge difference in contribution</a:t>
            </a:r>
          </a:p>
        </p:txBody>
      </p:sp>
      <p:sp>
        <p:nvSpPr>
          <p:cNvPr id="7" name="Arrow: Right 6">
            <a:extLst>
              <a:ext uri="{FF2B5EF4-FFF2-40B4-BE49-F238E27FC236}">
                <a16:creationId xmlns:a16="http://schemas.microsoft.com/office/drawing/2014/main" id="{5B03CD87-C235-58D4-CD03-02E3788B19F9}"/>
              </a:ext>
            </a:extLst>
          </p:cNvPr>
          <p:cNvSpPr/>
          <p:nvPr/>
        </p:nvSpPr>
        <p:spPr>
          <a:xfrm>
            <a:off x="4653116" y="2439628"/>
            <a:ext cx="1956620" cy="7865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ECA24950-12DD-FE4D-C4BA-BE866C8C8620}"/>
              </a:ext>
            </a:extLst>
          </p:cNvPr>
          <p:cNvSpPr/>
          <p:nvPr/>
        </p:nvSpPr>
        <p:spPr>
          <a:xfrm>
            <a:off x="7329949" y="2242982"/>
            <a:ext cx="4119716" cy="98322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t>“The majority of revenue comes from registered users, showing strong customer retention and subscription usage.”</a:t>
            </a:r>
            <a:endParaRPr lang="en-IN" sz="1600" dirty="0"/>
          </a:p>
        </p:txBody>
      </p:sp>
      <p:sp>
        <p:nvSpPr>
          <p:cNvPr id="9" name="Rectangle: Rounded Corners 8">
            <a:extLst>
              <a:ext uri="{FF2B5EF4-FFF2-40B4-BE49-F238E27FC236}">
                <a16:creationId xmlns:a16="http://schemas.microsoft.com/office/drawing/2014/main" id="{5512B043-E7C3-00AD-2D7A-93B16EC2788A}"/>
              </a:ext>
            </a:extLst>
          </p:cNvPr>
          <p:cNvSpPr/>
          <p:nvPr/>
        </p:nvSpPr>
        <p:spPr>
          <a:xfrm>
            <a:off x="562896" y="3699384"/>
            <a:ext cx="4434349" cy="108155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600" b="1" dirty="0"/>
              <a:t>Weekdays Perform Better Than Weekends</a:t>
            </a:r>
          </a:p>
          <a:p>
            <a:pPr marL="285750" indent="-285750">
              <a:buFont typeface="Arial" panose="020B0604020202020204" pitchFamily="34" charset="0"/>
              <a:buChar char="•"/>
            </a:pPr>
            <a:r>
              <a:rPr lang="en-US" sz="1400" dirty="0"/>
              <a:t>Weekday rentals significantly higher than weekends</a:t>
            </a:r>
          </a:p>
        </p:txBody>
      </p:sp>
      <p:sp>
        <p:nvSpPr>
          <p:cNvPr id="10" name="Arrow: Right 9">
            <a:extLst>
              <a:ext uri="{FF2B5EF4-FFF2-40B4-BE49-F238E27FC236}">
                <a16:creationId xmlns:a16="http://schemas.microsoft.com/office/drawing/2014/main" id="{9006A391-1714-4216-C4A1-AF5E4517905E}"/>
              </a:ext>
            </a:extLst>
          </p:cNvPr>
          <p:cNvSpPr/>
          <p:nvPr/>
        </p:nvSpPr>
        <p:spPr>
          <a:xfrm>
            <a:off x="4780936" y="3886197"/>
            <a:ext cx="1956620" cy="7865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2FB0F60-AE4F-3EE6-8CF2-5E892395CF03}"/>
              </a:ext>
            </a:extLst>
          </p:cNvPr>
          <p:cNvSpPr/>
          <p:nvPr/>
        </p:nvSpPr>
        <p:spPr>
          <a:xfrm>
            <a:off x="7329949" y="3699385"/>
            <a:ext cx="4119716" cy="98322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t>“Demand is driven by daily commuting rather than leisure activities.”</a:t>
            </a:r>
            <a:endParaRPr lang="en-IN" sz="1600" dirty="0"/>
          </a:p>
        </p:txBody>
      </p:sp>
      <p:sp>
        <p:nvSpPr>
          <p:cNvPr id="12" name="Rectangle: Rounded Corners 11">
            <a:extLst>
              <a:ext uri="{FF2B5EF4-FFF2-40B4-BE49-F238E27FC236}">
                <a16:creationId xmlns:a16="http://schemas.microsoft.com/office/drawing/2014/main" id="{730F768E-F842-FE8F-CE43-A87502C17273}"/>
              </a:ext>
            </a:extLst>
          </p:cNvPr>
          <p:cNvSpPr/>
          <p:nvPr/>
        </p:nvSpPr>
        <p:spPr>
          <a:xfrm>
            <a:off x="562896" y="5247965"/>
            <a:ext cx="4434349" cy="98322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b="1" dirty="0"/>
              <a:t>Weather Strongly Impacts Rentals</a:t>
            </a:r>
          </a:p>
          <a:p>
            <a:pPr marL="285750" indent="-285750">
              <a:buFont typeface="Arial" panose="020B0604020202020204" pitchFamily="34" charset="0"/>
              <a:buChar char="•"/>
            </a:pPr>
            <a:r>
              <a:rPr lang="en-US" sz="1400" dirty="0"/>
              <a:t>Highest rentals in </a:t>
            </a:r>
            <a:r>
              <a:rPr lang="en-US" sz="1400" b="1" dirty="0"/>
              <a:t>Clear weather</a:t>
            </a:r>
            <a:r>
              <a:rPr lang="en-US" sz="1400" dirty="0"/>
              <a:t> </a:t>
            </a:r>
          </a:p>
          <a:p>
            <a:pPr marL="285750" indent="-285750">
              <a:buFont typeface="Arial" panose="020B0604020202020204" pitchFamily="34" charset="0"/>
              <a:buChar char="•"/>
            </a:pPr>
            <a:r>
              <a:rPr lang="en-US" sz="1400" dirty="0"/>
              <a:t>Sharp drop in:  Mist , Rain ,Heavy weather</a:t>
            </a:r>
          </a:p>
        </p:txBody>
      </p:sp>
      <p:sp>
        <p:nvSpPr>
          <p:cNvPr id="13" name="Arrow: Right 12">
            <a:extLst>
              <a:ext uri="{FF2B5EF4-FFF2-40B4-BE49-F238E27FC236}">
                <a16:creationId xmlns:a16="http://schemas.microsoft.com/office/drawing/2014/main" id="{1D38244C-22F6-9E54-DAE6-6D99A2BA7F1A}"/>
              </a:ext>
            </a:extLst>
          </p:cNvPr>
          <p:cNvSpPr/>
          <p:nvPr/>
        </p:nvSpPr>
        <p:spPr>
          <a:xfrm>
            <a:off x="4653116" y="5346288"/>
            <a:ext cx="1956620" cy="7865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12FA1BA-0ED7-DCDF-41FD-C1614359D3C0}"/>
              </a:ext>
            </a:extLst>
          </p:cNvPr>
          <p:cNvSpPr/>
          <p:nvPr/>
        </p:nvSpPr>
        <p:spPr>
          <a:xfrm>
            <a:off x="7329949" y="5149642"/>
            <a:ext cx="4119716" cy="98322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t>“Adverse weather conditions significantly reduce bike usage, making weather a key demand driver.”</a:t>
            </a:r>
            <a:endParaRPr lang="en-IN" sz="1600" dirty="0"/>
          </a:p>
        </p:txBody>
      </p:sp>
    </p:spTree>
    <p:extLst>
      <p:ext uri="{BB962C8B-B14F-4D97-AF65-F5344CB8AC3E}">
        <p14:creationId xmlns:p14="http://schemas.microsoft.com/office/powerpoint/2010/main" val="2196028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1FA2B-3C24-12BF-CC18-8062A5F960A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89394F2-5530-7085-9498-AD0C4F8800B2}"/>
              </a:ext>
            </a:extLst>
          </p:cNvPr>
          <p:cNvSpPr/>
          <p:nvPr/>
        </p:nvSpPr>
        <p:spPr>
          <a:xfrm>
            <a:off x="216310" y="-108154"/>
            <a:ext cx="11729884" cy="58993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000" b="1" dirty="0"/>
              <a:t>Key Insights</a:t>
            </a:r>
          </a:p>
        </p:txBody>
      </p:sp>
      <p:sp>
        <p:nvSpPr>
          <p:cNvPr id="2" name="Rectangle: Rounded Corners 1">
            <a:extLst>
              <a:ext uri="{FF2B5EF4-FFF2-40B4-BE49-F238E27FC236}">
                <a16:creationId xmlns:a16="http://schemas.microsoft.com/office/drawing/2014/main" id="{D6DB94FF-6F42-DA66-5879-62BD83305007}"/>
              </a:ext>
            </a:extLst>
          </p:cNvPr>
          <p:cNvSpPr/>
          <p:nvPr/>
        </p:nvSpPr>
        <p:spPr>
          <a:xfrm>
            <a:off x="562896" y="983226"/>
            <a:ext cx="4434349" cy="98322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600" b="1" dirty="0"/>
              <a:t>Friday Has Highest Weekly Demand</a:t>
            </a:r>
          </a:p>
          <a:p>
            <a:pPr marL="285750" indent="-285750">
              <a:buFont typeface="Arial" panose="020B0604020202020204" pitchFamily="34" charset="0"/>
              <a:buChar char="•"/>
            </a:pPr>
            <a:r>
              <a:rPr lang="en-US" sz="1400" dirty="0"/>
              <a:t>Friday shows peak customer count (~9000+) </a:t>
            </a:r>
          </a:p>
          <a:p>
            <a:pPr marL="285750" indent="-285750">
              <a:buFont typeface="Arial" panose="020B0604020202020204" pitchFamily="34" charset="0"/>
              <a:buChar char="•"/>
            </a:pPr>
            <a:r>
              <a:rPr lang="en-US" sz="1400" dirty="0"/>
              <a:t>Saturday lowest</a:t>
            </a:r>
          </a:p>
        </p:txBody>
      </p:sp>
      <p:sp>
        <p:nvSpPr>
          <p:cNvPr id="4" name="Arrow: Right 3">
            <a:extLst>
              <a:ext uri="{FF2B5EF4-FFF2-40B4-BE49-F238E27FC236}">
                <a16:creationId xmlns:a16="http://schemas.microsoft.com/office/drawing/2014/main" id="{727AA5F8-FC80-080A-0B1C-D0D482328CDE}"/>
              </a:ext>
            </a:extLst>
          </p:cNvPr>
          <p:cNvSpPr/>
          <p:nvPr/>
        </p:nvSpPr>
        <p:spPr>
          <a:xfrm>
            <a:off x="4653116" y="1081549"/>
            <a:ext cx="1956620" cy="7865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2F3A37F-8A2D-6C15-98D2-EA58A662C24B}"/>
              </a:ext>
            </a:extLst>
          </p:cNvPr>
          <p:cNvSpPr/>
          <p:nvPr/>
        </p:nvSpPr>
        <p:spPr>
          <a:xfrm>
            <a:off x="7329949" y="884903"/>
            <a:ext cx="4119716" cy="98322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t>“Demand builds up during weekdays and peaks before the weekend, likely due to office and travel patterns.”</a:t>
            </a:r>
            <a:endParaRPr lang="en-IN" sz="1600" dirty="0"/>
          </a:p>
        </p:txBody>
      </p:sp>
      <p:sp>
        <p:nvSpPr>
          <p:cNvPr id="6" name="Rectangle: Rounded Corners 5">
            <a:extLst>
              <a:ext uri="{FF2B5EF4-FFF2-40B4-BE49-F238E27FC236}">
                <a16:creationId xmlns:a16="http://schemas.microsoft.com/office/drawing/2014/main" id="{89CBBD23-6F9F-6297-BAD8-2B602EC566B7}"/>
              </a:ext>
            </a:extLst>
          </p:cNvPr>
          <p:cNvSpPr/>
          <p:nvPr/>
        </p:nvSpPr>
        <p:spPr>
          <a:xfrm>
            <a:off x="562896" y="2566220"/>
            <a:ext cx="4434349" cy="98322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600" b="1" dirty="0"/>
              <a:t>Low Impact of Holidays</a:t>
            </a:r>
          </a:p>
          <a:p>
            <a:pPr marL="285750" indent="-285750">
              <a:buFont typeface="Arial" panose="020B0604020202020204" pitchFamily="34" charset="0"/>
              <a:buChar char="•"/>
            </a:pPr>
            <a:r>
              <a:rPr lang="en-US" sz="1400" dirty="0"/>
              <a:t>Majority rentals happen on non-holidays (~98%)</a:t>
            </a:r>
          </a:p>
        </p:txBody>
      </p:sp>
      <p:sp>
        <p:nvSpPr>
          <p:cNvPr id="7" name="Arrow: Right 6">
            <a:extLst>
              <a:ext uri="{FF2B5EF4-FFF2-40B4-BE49-F238E27FC236}">
                <a16:creationId xmlns:a16="http://schemas.microsoft.com/office/drawing/2014/main" id="{FFCA4DA8-D24D-DF6A-8450-A113C0199CDF}"/>
              </a:ext>
            </a:extLst>
          </p:cNvPr>
          <p:cNvSpPr/>
          <p:nvPr/>
        </p:nvSpPr>
        <p:spPr>
          <a:xfrm>
            <a:off x="4653116" y="2664543"/>
            <a:ext cx="1956620" cy="7865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BCC742DB-1F92-2FD9-D42B-A00B2F153EF9}"/>
              </a:ext>
            </a:extLst>
          </p:cNvPr>
          <p:cNvSpPr/>
          <p:nvPr/>
        </p:nvSpPr>
        <p:spPr>
          <a:xfrm>
            <a:off x="7329949" y="2467897"/>
            <a:ext cx="4119716" cy="98322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t>“Bike rentals are not holiday-driven, reinforcing that usage is primarily work-related.”</a:t>
            </a:r>
            <a:endParaRPr lang="en-IN" sz="1600" dirty="0"/>
          </a:p>
        </p:txBody>
      </p:sp>
    </p:spTree>
    <p:extLst>
      <p:ext uri="{BB962C8B-B14F-4D97-AF65-F5344CB8AC3E}">
        <p14:creationId xmlns:p14="http://schemas.microsoft.com/office/powerpoint/2010/main" val="4133908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D8E2-9C6F-020B-A7D4-3F6D9741AC17}"/>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3B8C40D-71A8-4B25-96A5-54EB733065A5}"/>
              </a:ext>
            </a:extLst>
          </p:cNvPr>
          <p:cNvSpPr/>
          <p:nvPr/>
        </p:nvSpPr>
        <p:spPr>
          <a:xfrm>
            <a:off x="231058" y="-55292"/>
            <a:ext cx="11729884" cy="58993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000" b="1" dirty="0"/>
              <a:t>Business Recommendations</a:t>
            </a:r>
          </a:p>
        </p:txBody>
      </p:sp>
      <p:sp>
        <p:nvSpPr>
          <p:cNvPr id="10" name="TextBox 9">
            <a:extLst>
              <a:ext uri="{FF2B5EF4-FFF2-40B4-BE49-F238E27FC236}">
                <a16:creationId xmlns:a16="http://schemas.microsoft.com/office/drawing/2014/main" id="{0ABFFF8E-78BD-C540-59D7-72D2E64EEC4F}"/>
              </a:ext>
            </a:extLst>
          </p:cNvPr>
          <p:cNvSpPr txBox="1"/>
          <p:nvPr/>
        </p:nvSpPr>
        <p:spPr>
          <a:xfrm>
            <a:off x="589935" y="793643"/>
            <a:ext cx="11277600" cy="2031325"/>
          </a:xfrm>
          <a:prstGeom prst="rect">
            <a:avLst/>
          </a:prstGeom>
          <a:noFill/>
        </p:spPr>
        <p:txBody>
          <a:bodyPr wrap="square">
            <a:spAutoFit/>
          </a:bodyPr>
          <a:lstStyle/>
          <a:p>
            <a:pPr marL="285750" indent="-285750">
              <a:buFont typeface="Arial" panose="020B0604020202020204" pitchFamily="34" charset="0"/>
              <a:buChar char="•"/>
            </a:pPr>
            <a:r>
              <a:rPr lang="en-US" dirty="0"/>
              <a:t>Registered users drive most – Offer discounted monthly/yearly plans &amp; Loyalty rewards for frequent users</a:t>
            </a:r>
          </a:p>
          <a:p>
            <a:pPr marL="285750" indent="-285750">
              <a:buFont typeface="Arial" panose="020B0604020202020204" pitchFamily="34" charset="0"/>
              <a:buChar char="•"/>
            </a:pPr>
            <a:r>
              <a:rPr lang="en-IN" dirty="0"/>
              <a:t>Ensure more bikes at offices , metro stations . Use dynamic rebalancing of bikes</a:t>
            </a:r>
          </a:p>
          <a:p>
            <a:pPr marL="285750" indent="-285750">
              <a:buFont typeface="Arial" panose="020B0604020202020204" pitchFamily="34" charset="0"/>
              <a:buChar char="•"/>
            </a:pPr>
            <a:r>
              <a:rPr lang="en-US" dirty="0"/>
              <a:t>Demand drops in bad weather – Offer discounts during rain/mist .provide rain gear / covered bikes (premium service.)</a:t>
            </a:r>
          </a:p>
          <a:p>
            <a:pPr marL="285750" indent="-285750">
              <a:buFont typeface="Arial" panose="020B0604020202020204" pitchFamily="34" charset="0"/>
              <a:buChar char="•"/>
            </a:pPr>
            <a:r>
              <a:rPr lang="en-IN" dirty="0"/>
              <a:t>Weekend demand is low – Launch weekend offers, tourist packages, group ride discounts.</a:t>
            </a:r>
          </a:p>
          <a:p>
            <a:pPr marL="285750" indent="-285750">
              <a:buFont typeface="Arial" panose="020B0604020202020204" pitchFamily="34" charset="0"/>
              <a:buChar char="•"/>
            </a:pPr>
            <a:r>
              <a:rPr lang="en-US" dirty="0"/>
              <a:t>Casual users are very low – offer first time subscription discount.</a:t>
            </a:r>
          </a:p>
          <a:p>
            <a:pPr marL="285750" indent="-285750">
              <a:buFont typeface="Arial" panose="020B0604020202020204" pitchFamily="34" charset="0"/>
              <a:buChar char="•"/>
            </a:pPr>
            <a:r>
              <a:rPr lang="en-US" dirty="0"/>
              <a:t>Demand is commute driven expand near IT parks ,offices , colleges</a:t>
            </a:r>
            <a:endParaRPr lang="en-IN" dirty="0"/>
          </a:p>
        </p:txBody>
      </p:sp>
      <p:sp>
        <p:nvSpPr>
          <p:cNvPr id="14" name="Rectangle: Rounded Corners 13">
            <a:extLst>
              <a:ext uri="{FF2B5EF4-FFF2-40B4-BE49-F238E27FC236}">
                <a16:creationId xmlns:a16="http://schemas.microsoft.com/office/drawing/2014/main" id="{3ECC8182-07AC-C10F-C260-C14E2DCD5FB2}"/>
              </a:ext>
            </a:extLst>
          </p:cNvPr>
          <p:cNvSpPr/>
          <p:nvPr/>
        </p:nvSpPr>
        <p:spPr>
          <a:xfrm>
            <a:off x="2664542" y="3342967"/>
            <a:ext cx="6400800" cy="272138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“Based on the analysis, I would recommend focusing on increasing registered users, optimizing bike availability during peak commute hours, and introducing weather-based and weekend promotions. Additionally, converting casual users into subscribers and expanding near high-demand locations can significantly improve revenue and utilization.”</a:t>
            </a:r>
            <a:endParaRPr lang="en-IN"/>
          </a:p>
        </p:txBody>
      </p:sp>
    </p:spTree>
    <p:extLst>
      <p:ext uri="{BB962C8B-B14F-4D97-AF65-F5344CB8AC3E}">
        <p14:creationId xmlns:p14="http://schemas.microsoft.com/office/powerpoint/2010/main" val="2222497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ED8BB-A406-BF6D-D03A-B76AA9BB7E4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924E73F-0499-10C4-E0DF-48464F8AD0DF}"/>
              </a:ext>
            </a:extLst>
          </p:cNvPr>
          <p:cNvSpPr/>
          <p:nvPr/>
        </p:nvSpPr>
        <p:spPr>
          <a:xfrm>
            <a:off x="216310" y="-108154"/>
            <a:ext cx="11729884" cy="58993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000" b="1" dirty="0"/>
              <a:t>Learnings &amp; Conclusion</a:t>
            </a:r>
            <a:endParaRPr lang="en-IN" b="1" dirty="0"/>
          </a:p>
        </p:txBody>
      </p:sp>
      <p:sp>
        <p:nvSpPr>
          <p:cNvPr id="4" name="TextBox 3">
            <a:extLst>
              <a:ext uri="{FF2B5EF4-FFF2-40B4-BE49-F238E27FC236}">
                <a16:creationId xmlns:a16="http://schemas.microsoft.com/office/drawing/2014/main" id="{E3ABEE2C-5319-EF8A-4258-53A0B1587FAF}"/>
              </a:ext>
            </a:extLst>
          </p:cNvPr>
          <p:cNvSpPr txBox="1"/>
          <p:nvPr/>
        </p:nvSpPr>
        <p:spPr>
          <a:xfrm>
            <a:off x="639097" y="891118"/>
            <a:ext cx="9851922" cy="1754326"/>
          </a:xfrm>
          <a:prstGeom prst="rect">
            <a:avLst/>
          </a:prstGeom>
          <a:noFill/>
        </p:spPr>
        <p:txBody>
          <a:bodyPr wrap="square">
            <a:spAutoFit/>
          </a:bodyPr>
          <a:lstStyle/>
          <a:p>
            <a:pPr marL="285750" indent="-285750">
              <a:buFont typeface="Arial" panose="020B0604020202020204" pitchFamily="34" charset="0"/>
              <a:buChar char="•"/>
            </a:pPr>
            <a:r>
              <a:rPr lang="en-US" dirty="0"/>
              <a:t>Business problems require multi-dimensional analysis, not just single-variable dependency</a:t>
            </a:r>
          </a:p>
          <a:p>
            <a:pPr marL="285750" indent="-285750">
              <a:buFont typeface="Arial" panose="020B0604020202020204" pitchFamily="34" charset="0"/>
              <a:buChar char="•"/>
            </a:pPr>
            <a:r>
              <a:rPr lang="en-US" dirty="0"/>
              <a:t>Transforming raw data into meaningful features improves analysis quality</a:t>
            </a:r>
          </a:p>
          <a:p>
            <a:pPr marL="285750" indent="-285750">
              <a:buFont typeface="Arial" panose="020B0604020202020204" pitchFamily="34" charset="0"/>
              <a:buChar char="•"/>
            </a:pPr>
            <a:r>
              <a:rPr lang="en-US" dirty="0"/>
              <a:t>Segment-based analysis gives deeper business insights than overall metrics.</a:t>
            </a:r>
          </a:p>
          <a:p>
            <a:pPr marL="285750" indent="-285750">
              <a:buFont typeface="Arial" panose="020B0604020202020204" pitchFamily="34" charset="0"/>
              <a:buChar char="•"/>
            </a:pPr>
            <a:r>
              <a:rPr lang="en-US" dirty="0"/>
              <a:t>Good visualization simplifies complex data into actionable insights.</a:t>
            </a:r>
          </a:p>
          <a:p>
            <a:pPr marL="285750" indent="-285750">
              <a:buFont typeface="Arial" panose="020B0604020202020204" pitchFamily="34" charset="0"/>
              <a:buChar char="•"/>
            </a:pPr>
            <a:r>
              <a:rPr lang="en-IN" dirty="0"/>
              <a:t>External/environmental variables play a critical role in user </a:t>
            </a:r>
            <a:r>
              <a:rPr lang="en-IN" dirty="0" err="1"/>
              <a:t>behavior</a:t>
            </a:r>
            <a:r>
              <a:rPr lang="en-IN" dirty="0"/>
              <a:t> like Weather impacts demand</a:t>
            </a:r>
          </a:p>
          <a:p>
            <a:endParaRPr lang="en-IN" dirty="0"/>
          </a:p>
        </p:txBody>
      </p:sp>
      <p:sp>
        <p:nvSpPr>
          <p:cNvPr id="5" name="Rectangle: Rounded Corners 4">
            <a:extLst>
              <a:ext uri="{FF2B5EF4-FFF2-40B4-BE49-F238E27FC236}">
                <a16:creationId xmlns:a16="http://schemas.microsoft.com/office/drawing/2014/main" id="{3711B961-84F8-3DAE-3DE4-0B15F01CC66F}"/>
              </a:ext>
            </a:extLst>
          </p:cNvPr>
          <p:cNvSpPr/>
          <p:nvPr/>
        </p:nvSpPr>
        <p:spPr>
          <a:xfrm>
            <a:off x="2880852" y="2943615"/>
            <a:ext cx="6184490" cy="253788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“Through this project, I learned the importance of feature engineering, user segmentation, and combining multiple factors to derive insights. In the future, this can be extended using machine learning for demand forecasting, dynamic pricing, and location-based optimization to improve business efficiency.”</a:t>
            </a:r>
            <a:endParaRPr lang="en-IN"/>
          </a:p>
        </p:txBody>
      </p:sp>
    </p:spTree>
    <p:extLst>
      <p:ext uri="{BB962C8B-B14F-4D97-AF65-F5344CB8AC3E}">
        <p14:creationId xmlns:p14="http://schemas.microsoft.com/office/powerpoint/2010/main" val="2053007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0EC9B-EDC2-DCD0-2C55-31706678F34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A76DBFA-AF02-268C-9445-A090ADA68947}"/>
              </a:ext>
            </a:extLst>
          </p:cNvPr>
          <p:cNvSpPr/>
          <p:nvPr/>
        </p:nvSpPr>
        <p:spPr>
          <a:xfrm>
            <a:off x="324464" y="78658"/>
            <a:ext cx="11565193" cy="668593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4800" dirty="0">
                <a:solidFill>
                  <a:schemeClr val="bg2">
                    <a:lumMod val="25000"/>
                  </a:schemeClr>
                </a:solidFill>
              </a:rPr>
              <a:t>Thank You !</a:t>
            </a:r>
          </a:p>
        </p:txBody>
      </p:sp>
    </p:spTree>
    <p:extLst>
      <p:ext uri="{BB962C8B-B14F-4D97-AF65-F5344CB8AC3E}">
        <p14:creationId xmlns:p14="http://schemas.microsoft.com/office/powerpoint/2010/main" val="326107163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238</TotalTime>
  <Words>768</Words>
  <Application>Microsoft Office PowerPoint</Application>
  <PresentationFormat>Widescreen</PresentationFormat>
  <Paragraphs>113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Aharoni</vt:lpstr>
      <vt:lpstr>Aptos Narrow</vt:lpstr>
      <vt:lpstr>Arial</vt:lpstr>
      <vt:lpstr>Arial Unicode MS</vt:lpstr>
      <vt:lpstr>Gill Sans MT</vt:lpstr>
      <vt:lpstr>Parcel</vt:lpstr>
      <vt:lpstr>Bike Rental Analysis Report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rajesh rathod</dc:creator>
  <cp:lastModifiedBy>rajesh rathod</cp:lastModifiedBy>
  <cp:revision>6</cp:revision>
  <dcterms:created xsi:type="dcterms:W3CDTF">2026-03-24T06:58:08Z</dcterms:created>
  <dcterms:modified xsi:type="dcterms:W3CDTF">2026-03-24T10:56:18Z</dcterms:modified>
</cp:coreProperties>
</file>